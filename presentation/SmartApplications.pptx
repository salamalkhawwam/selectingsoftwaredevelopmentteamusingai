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66" r:id="rId5"/>
    <p:sldId id="264" r:id="rId6"/>
    <p:sldId id="268" r:id="rId7"/>
    <p:sldId id="293" r:id="rId8"/>
    <p:sldId id="302" r:id="rId9"/>
    <p:sldId id="265" r:id="rId10"/>
    <p:sldId id="259" r:id="rId11"/>
    <p:sldId id="262" r:id="rId12"/>
    <p:sldId id="263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60" r:id="rId25"/>
    <p:sldId id="261" r:id="rId26"/>
    <p:sldId id="281" r:id="rId27"/>
    <p:sldId id="288" r:id="rId28"/>
    <p:sldId id="289" r:id="rId29"/>
    <p:sldId id="285" r:id="rId30"/>
    <p:sldId id="286" r:id="rId31"/>
    <p:sldId id="287" r:id="rId32"/>
    <p:sldId id="300" r:id="rId33"/>
    <p:sldId id="292" r:id="rId34"/>
    <p:sldId id="291" r:id="rId35"/>
    <p:sldId id="295" r:id="rId36"/>
    <p:sldId id="296" r:id="rId37"/>
    <p:sldId id="297" r:id="rId38"/>
    <p:sldId id="299" r:id="rId39"/>
    <p:sldId id="303" r:id="rId40"/>
    <p:sldId id="30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A8AF"/>
    <a:srgbClr val="C49500"/>
    <a:srgbClr val="FFFFFF"/>
    <a:srgbClr val="16A3A9"/>
    <a:srgbClr val="1B211B"/>
    <a:srgbClr val="11B6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3" d="100"/>
          <a:sy n="73" d="100"/>
        </p:scale>
        <p:origin x="10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7T14:11:38.2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D1E582-9695-4C5D-B1D0-826FAF0A3EB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2399E-8C70-4846-94B3-F20982BB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93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2399E-8C70-4846-94B3-F20982BB8D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35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2399E-8C70-4846-94B3-F20982BB8D8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78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2399E-8C70-4846-94B3-F20982BB8D8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280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2399E-8C70-4846-94B3-F20982BB8D8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10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2399E-8C70-4846-94B3-F20982BB8D8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27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2399E-8C70-4846-94B3-F20982BB8D8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18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FAF71-EA60-1CE6-3ADE-54B46CEB4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E2C8C-CAC5-20D3-C1C1-6AF114E89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D45A0-4430-A1BA-8CCA-3C721A73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478E-984F-4E6B-87B4-55F39078F9CC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CE155-E098-5917-2194-339921624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5312B-ACE0-C044-9B32-67E5BAE4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9446-A66C-4D09-80DE-ED9BD894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6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0AB07-E3A8-D59B-B3EA-1455E0CA7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1E6E9-B73A-51E6-27E6-BD7A9D1A4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2633E-D3BC-AA87-689B-FF8BBBF17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478E-984F-4E6B-87B4-55F39078F9CC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69198-4F1C-D603-9697-3F47E7AB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C9515-7911-9A9C-B2EB-4C9E32AE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9446-A66C-4D09-80DE-ED9BD894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3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CC38A-BA0A-2592-E5DA-0EAE27A00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D8379-01B7-4CCC-192A-7252147C9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3CBB-9A64-6215-BC88-308E5664D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478E-984F-4E6B-87B4-55F39078F9CC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B2465-6C34-F2F7-844D-9BADA6B37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546D3-B3A2-7C41-C16C-DCAFF4B4E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9446-A66C-4D09-80DE-ED9BD894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36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61EDD-BAB2-5323-25B6-EF9D8CB97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AE971-3C11-1668-B188-3E5C30AA86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17DD0-A992-D9D1-5ACA-72F58B7B8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19D7B-A28E-8C1D-5915-B51D8B5B6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478E-984F-4E6B-87B4-55F39078F9CC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B7C6F-9E81-2B84-64FD-4B693BA34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20492-A035-B447-FC49-2CB18BC1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9446-A66C-4D09-80DE-ED9BD894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36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C5FD-0771-CF2A-FE55-A50AA896C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3C812-80D6-1FE7-FE32-CC0811FE7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9F422-C110-14AB-0A3A-705547800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5B264C-F41F-3ECB-87BA-6AAF8C3189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F834F7-291E-301F-47A4-4F6847B450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A9B936-1521-6F8D-6B5C-65474602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478E-984F-4E6B-87B4-55F39078F9CC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AB5D0-F3E8-0442-5124-4478ACDC6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8671B0-DAF4-9310-7DA7-EDBBF0CC4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9446-A66C-4D09-80DE-ED9BD894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07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CC932-2D04-34EF-947E-E965E4A1A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621DB8-063B-A9FA-F873-E24E30EBF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478E-984F-4E6B-87B4-55F39078F9CC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30C15-30AA-75EB-16D6-740645C0A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A50C4-CC4E-8C84-2CCC-74E4318EE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9446-A66C-4D09-80DE-ED9BD894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63BD3E-59E3-6C47-5AFD-709C80EF7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478E-984F-4E6B-87B4-55F39078F9CC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6E58E-51DC-6C29-E290-29963E1B4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FC3C7-4DE3-C26F-B693-F3E95356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9446-A66C-4D09-80DE-ED9BD894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42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5180F-6609-C7B0-6605-61A7F37E2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FBFAA-0FE2-5864-B36C-30A3FC2CA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9D4C9-90E0-E2FF-8FCB-D3CE0A173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220C8-6DE0-F688-2D4B-E2B0E777E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478E-984F-4E6B-87B4-55F39078F9CC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CF405-DF69-C4E5-8905-44CA64603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764E2-98A2-1FD6-E4BA-E896D98B0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9446-A66C-4D09-80DE-ED9BD894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47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4402C-1469-395E-5409-5B939CFB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25CD0-CA06-8A51-1E1D-9555878347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BC862F-DA6E-2497-C83C-C5DC9A357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E8812-E80D-17FF-CA8F-20C250A6D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478E-984F-4E6B-87B4-55F39078F9CC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89747-E8E4-81F1-16C2-D6CB9ABE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522ED-F317-2FEB-ADFF-7018BCFD1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9446-A66C-4D09-80DE-ED9BD894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92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A701B-E58D-6209-56D4-72801081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93140C-B2E4-4B9A-7A79-7156BC209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9845D-ECBA-B52E-1562-DC7C86CB0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478E-984F-4E6B-87B4-55F39078F9CC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A8623-DD8A-7BBD-B1F5-6345F0103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D1507-2BB4-6ACD-1DCB-B934C5D7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9446-A66C-4D09-80DE-ED9BD894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12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8DBD2B-3278-27BC-817F-706992A13C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7FA5C-D5EA-9500-7832-4CE16B5F8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77DC7-230A-3A6A-6FB7-8BF90E97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478E-984F-4E6B-87B4-55F39078F9CC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B6602-4710-4C47-A10F-7C81879D1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53B89-5DE9-F14B-FC41-8135D6153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9446-A66C-4D09-80DE-ED9BD894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8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1B6BE"/>
            </a:gs>
            <a:gs pos="100000">
              <a:srgbClr val="1B211B"/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0CCC4D-2AD5-BFED-73B7-5DAAA4B66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B06E1-12B9-F9C5-D906-6ADDCC300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86EFF-1D45-D935-8029-7838378D19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0478E-984F-4E6B-87B4-55F39078F9CC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86CEF-FB8D-3D99-3B3D-F37AF8900B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82262-6168-8BA8-9DC8-5CDE27C9B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69446-A66C-4D09-80DE-ED9BD8949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97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E84981-BB49-C20F-330A-B0166DF881BE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FC866C-2D06-B8C7-16FE-E41ED67C8131}"/>
              </a:ext>
            </a:extLst>
          </p:cNvPr>
          <p:cNvSpPr txBox="1"/>
          <p:nvPr/>
        </p:nvSpPr>
        <p:spPr>
          <a:xfrm>
            <a:off x="1633298" y="1575062"/>
            <a:ext cx="8925402" cy="370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Final Project on Smart Applications in the Master of Software Engineering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dirty="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dirty="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/>
            <a:r>
              <a:rPr lang="en-US" sz="28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Selecting Software Development Team using AI</a:t>
            </a: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Supervised by Dr. Wesam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Alnabki</a:t>
            </a:r>
            <a:endParaRPr lang="en-US" sz="1600" dirty="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Prepared by E. Salam Alkhawwam &amp; E. Amal Al-Khalaf</a:t>
            </a:r>
          </a:p>
        </p:txBody>
      </p:sp>
    </p:spTree>
    <p:extLst>
      <p:ext uri="{BB962C8B-B14F-4D97-AF65-F5344CB8AC3E}">
        <p14:creationId xmlns:p14="http://schemas.microsoft.com/office/powerpoint/2010/main" val="2317854443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6">
            <a:extLst>
              <a:ext uri="{FF2B5EF4-FFF2-40B4-BE49-F238E27FC236}">
                <a16:creationId xmlns:a16="http://schemas.microsoft.com/office/drawing/2014/main" id="{933E8E59-AC9D-09B8-3E76-2D6DA733E526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Curved Connector 12"/>
          <p:cNvCxnSpPr>
            <a:cxnSpLocks/>
            <a:stCxn id="79" idx="2"/>
            <a:endCxn id="24" idx="1"/>
          </p:cNvCxnSpPr>
          <p:nvPr/>
        </p:nvCxnSpPr>
        <p:spPr>
          <a:xfrm rot="16200000" flipH="1">
            <a:off x="3202985" y="4038250"/>
            <a:ext cx="441185" cy="181235"/>
          </a:xfrm>
          <a:prstGeom prst="curvedConnector2">
            <a:avLst/>
          </a:prstGeom>
          <a:ln w="38100">
            <a:solidFill>
              <a:srgbClr val="16A3A9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Flowchart: Magnetic Disk 13"/>
          <p:cNvSpPr/>
          <p:nvPr/>
        </p:nvSpPr>
        <p:spPr>
          <a:xfrm>
            <a:off x="5579261" y="2778129"/>
            <a:ext cx="1033475" cy="1512816"/>
          </a:xfrm>
          <a:prstGeom prst="flowChartMagneticDisk">
            <a:avLst/>
          </a:prstGeom>
          <a:solidFill>
            <a:srgbClr val="FFFFFF"/>
          </a:solidFill>
          <a:ln>
            <a:solidFill>
              <a:srgbClr val="16A3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520578" y="3287631"/>
            <a:ext cx="1140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Vector DB</a:t>
            </a:r>
            <a:endParaRPr lang="ar-AE" sz="1200" b="1" dirty="0"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ctr" rtl="1"/>
            <a:br>
              <a:rPr lang="ar-SY" sz="500" b="1" dirty="0">
                <a:latin typeface="Open Sans" panose="020B0606030504020204" pitchFamily="34" charset="0"/>
                <a:ea typeface="Open Sans" panose="020B0606030504020204" pitchFamily="34" charset="0"/>
              </a:rPr>
            </a:b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(Profiles</a:t>
            </a:r>
          </a:p>
          <a:p>
            <a:pPr algn="ctr" rtl="1"/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Knowledge</a:t>
            </a:r>
          </a:p>
          <a:p>
            <a:pPr algn="ctr" rtl="1"/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Base)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4195" y="4210961"/>
            <a:ext cx="1130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Embedding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D90EE78-A0A7-DD7B-74B7-AFEECCA2FBB0}"/>
                  </a:ext>
                </a:extLst>
              </p14:cNvPr>
              <p14:cNvContentPartPr/>
              <p14:nvPr/>
            </p14:nvContentPartPr>
            <p14:xfrm>
              <a:off x="4644933" y="311629"/>
              <a:ext cx="360" cy="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D90EE78-A0A7-DD7B-74B7-AFEECCA2FB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35933" y="302629"/>
                <a:ext cx="18000" cy="1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DF17155-A22F-9406-935D-AD9A613761B4}"/>
              </a:ext>
            </a:extLst>
          </p:cNvPr>
          <p:cNvCxnSpPr>
            <a:cxnSpLocks/>
          </p:cNvCxnSpPr>
          <p:nvPr/>
        </p:nvCxnSpPr>
        <p:spPr>
          <a:xfrm>
            <a:off x="6653376" y="3466138"/>
            <a:ext cx="3265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2D90E1F-EDCE-4291-53BC-51F4C377119E}"/>
              </a:ext>
            </a:extLst>
          </p:cNvPr>
          <p:cNvSpPr/>
          <p:nvPr/>
        </p:nvSpPr>
        <p:spPr>
          <a:xfrm>
            <a:off x="8351431" y="2774311"/>
            <a:ext cx="949439" cy="1133965"/>
          </a:xfrm>
          <a:prstGeom prst="roundRect">
            <a:avLst/>
          </a:prstGeom>
          <a:ln>
            <a:solidFill>
              <a:srgbClr val="16A3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24317D-3D3E-F673-3C5B-E2D9F46F2A61}"/>
              </a:ext>
            </a:extLst>
          </p:cNvPr>
          <p:cNvSpPr txBox="1"/>
          <p:nvPr/>
        </p:nvSpPr>
        <p:spPr>
          <a:xfrm>
            <a:off x="8271308" y="2977345"/>
            <a:ext cx="1109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</a:t>
            </a:r>
          </a:p>
          <a:p>
            <a:pPr algn="ctr" rtl="1"/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Choice Explanation</a:t>
            </a:r>
          </a:p>
        </p:txBody>
      </p:sp>
      <p:cxnSp>
        <p:nvCxnSpPr>
          <p:cNvPr id="56" name="Curved Connector 12">
            <a:extLst>
              <a:ext uri="{FF2B5EF4-FFF2-40B4-BE49-F238E27FC236}">
                <a16:creationId xmlns:a16="http://schemas.microsoft.com/office/drawing/2014/main" id="{4DCC231B-CB99-520B-C801-07E1BD12E0CE}"/>
              </a:ext>
            </a:extLst>
          </p:cNvPr>
          <p:cNvCxnSpPr>
            <a:cxnSpLocks/>
            <a:stCxn id="24" idx="3"/>
            <a:endCxn id="80" idx="2"/>
          </p:cNvCxnSpPr>
          <p:nvPr/>
        </p:nvCxnSpPr>
        <p:spPr>
          <a:xfrm flipV="1">
            <a:off x="4644933" y="3911817"/>
            <a:ext cx="71898" cy="437644"/>
          </a:xfrm>
          <a:prstGeom prst="curvedConnector2">
            <a:avLst/>
          </a:prstGeom>
          <a:ln w="38100">
            <a:solidFill>
              <a:srgbClr val="16A3A9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F84A338F-CA1C-42C9-148D-629A0098DA4E}"/>
              </a:ext>
            </a:extLst>
          </p:cNvPr>
          <p:cNvSpPr/>
          <p:nvPr/>
        </p:nvSpPr>
        <p:spPr>
          <a:xfrm>
            <a:off x="7013015" y="2774311"/>
            <a:ext cx="949439" cy="1133965"/>
          </a:xfrm>
          <a:prstGeom prst="roundRect">
            <a:avLst/>
          </a:prstGeom>
          <a:ln>
            <a:solidFill>
              <a:srgbClr val="16A3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37A4F9-727E-C008-CC5F-19893AB2D102}"/>
              </a:ext>
            </a:extLst>
          </p:cNvPr>
          <p:cNvSpPr txBox="1"/>
          <p:nvPr/>
        </p:nvSpPr>
        <p:spPr>
          <a:xfrm>
            <a:off x="7070522" y="3106873"/>
            <a:ext cx="827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</a:t>
            </a:r>
          </a:p>
          <a:p>
            <a:pPr algn="ctr" rtl="1"/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Selected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5F826A25-39B8-F9A3-7EA7-4EEDABD2A198}"/>
              </a:ext>
            </a:extLst>
          </p:cNvPr>
          <p:cNvSpPr/>
          <p:nvPr/>
        </p:nvSpPr>
        <p:spPr>
          <a:xfrm>
            <a:off x="1517928" y="2774311"/>
            <a:ext cx="949439" cy="1133965"/>
          </a:xfrm>
          <a:prstGeom prst="roundRect">
            <a:avLst/>
          </a:prstGeom>
          <a:ln>
            <a:solidFill>
              <a:srgbClr val="16A3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ACA98B-C94A-B1DF-7328-6568DE934FD7}"/>
              </a:ext>
            </a:extLst>
          </p:cNvPr>
          <p:cNvSpPr txBox="1"/>
          <p:nvPr/>
        </p:nvSpPr>
        <p:spPr>
          <a:xfrm>
            <a:off x="1565047" y="3106875"/>
            <a:ext cx="85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</a:t>
            </a:r>
          </a:p>
          <a:p>
            <a:pPr algn="ctr" rtl="1"/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Idea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D9571B09-D047-44DF-FDEA-A9B2C75D92F1}"/>
              </a:ext>
            </a:extLst>
          </p:cNvPr>
          <p:cNvSpPr/>
          <p:nvPr/>
        </p:nvSpPr>
        <p:spPr>
          <a:xfrm>
            <a:off x="2858240" y="2774311"/>
            <a:ext cx="949439" cy="1133965"/>
          </a:xfrm>
          <a:prstGeom prst="roundRect">
            <a:avLst/>
          </a:prstGeom>
          <a:ln>
            <a:solidFill>
              <a:srgbClr val="16A3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522ED3-C8A9-A9C1-47FD-E15415081105}"/>
              </a:ext>
            </a:extLst>
          </p:cNvPr>
          <p:cNvSpPr txBox="1"/>
          <p:nvPr/>
        </p:nvSpPr>
        <p:spPr>
          <a:xfrm>
            <a:off x="2896115" y="3106875"/>
            <a:ext cx="881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</a:t>
            </a:r>
          </a:p>
          <a:p>
            <a:pPr algn="ctr" rtl="1"/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Analysis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6C9079FE-A198-CE79-7396-ECAF3297CF75}"/>
              </a:ext>
            </a:extLst>
          </p:cNvPr>
          <p:cNvSpPr/>
          <p:nvPr/>
        </p:nvSpPr>
        <p:spPr>
          <a:xfrm>
            <a:off x="4242111" y="2777852"/>
            <a:ext cx="949439" cy="1133965"/>
          </a:xfrm>
          <a:prstGeom prst="roundRect">
            <a:avLst/>
          </a:prstGeom>
          <a:ln>
            <a:solidFill>
              <a:srgbClr val="16A3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DBF360A-0506-95BF-1BCB-B42DB9F213A5}"/>
              </a:ext>
            </a:extLst>
          </p:cNvPr>
          <p:cNvSpPr txBox="1"/>
          <p:nvPr/>
        </p:nvSpPr>
        <p:spPr>
          <a:xfrm>
            <a:off x="4252557" y="3014539"/>
            <a:ext cx="926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rtl="1">
              <a:defRPr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Similarity and Matching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B05A9D53-2426-1EC3-D3E1-CF1B902A0653}"/>
              </a:ext>
            </a:extLst>
          </p:cNvPr>
          <p:cNvSpPr/>
          <p:nvPr/>
        </p:nvSpPr>
        <p:spPr>
          <a:xfrm>
            <a:off x="9710020" y="2774311"/>
            <a:ext cx="949439" cy="1133965"/>
          </a:xfrm>
          <a:prstGeom prst="roundRect">
            <a:avLst/>
          </a:prstGeom>
          <a:ln>
            <a:solidFill>
              <a:srgbClr val="16A3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05A67E9-0965-AA0A-73B6-907DF4F3AFAC}"/>
              </a:ext>
            </a:extLst>
          </p:cNvPr>
          <p:cNvSpPr txBox="1"/>
          <p:nvPr/>
        </p:nvSpPr>
        <p:spPr>
          <a:xfrm>
            <a:off x="9629898" y="3014539"/>
            <a:ext cx="1109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Analysis + Team + Explanation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B39FEE2-B539-A722-E3E3-9BFD4EAF11D1}"/>
              </a:ext>
            </a:extLst>
          </p:cNvPr>
          <p:cNvCxnSpPr>
            <a:cxnSpLocks/>
          </p:cNvCxnSpPr>
          <p:nvPr/>
        </p:nvCxnSpPr>
        <p:spPr>
          <a:xfrm>
            <a:off x="7992934" y="3477876"/>
            <a:ext cx="3265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927A32C-38A7-B5DE-9AC4-762982C372EE}"/>
              </a:ext>
            </a:extLst>
          </p:cNvPr>
          <p:cNvCxnSpPr>
            <a:cxnSpLocks/>
          </p:cNvCxnSpPr>
          <p:nvPr/>
        </p:nvCxnSpPr>
        <p:spPr>
          <a:xfrm>
            <a:off x="9343550" y="3466138"/>
            <a:ext cx="3265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68FBA27-A4EA-E24C-8534-80A24A1DEA7D}"/>
              </a:ext>
            </a:extLst>
          </p:cNvPr>
          <p:cNvCxnSpPr>
            <a:cxnSpLocks/>
          </p:cNvCxnSpPr>
          <p:nvPr/>
        </p:nvCxnSpPr>
        <p:spPr>
          <a:xfrm>
            <a:off x="2501216" y="3458339"/>
            <a:ext cx="3265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07F356D-F6F5-88DE-2325-7F5EE6AC6DD7}"/>
              </a:ext>
            </a:extLst>
          </p:cNvPr>
          <p:cNvCxnSpPr>
            <a:cxnSpLocks/>
          </p:cNvCxnSpPr>
          <p:nvPr/>
        </p:nvCxnSpPr>
        <p:spPr>
          <a:xfrm>
            <a:off x="5222030" y="3477876"/>
            <a:ext cx="3265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126006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6D7D379C-81D4-6B4F-36D0-DDC6DE02A640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93FF92-BE87-7685-FD70-A07118D90C65}"/>
              </a:ext>
            </a:extLst>
          </p:cNvPr>
          <p:cNvSpPr/>
          <p:nvPr/>
        </p:nvSpPr>
        <p:spPr>
          <a:xfrm>
            <a:off x="2897887" y="2692910"/>
            <a:ext cx="1218518" cy="1767494"/>
          </a:xfrm>
          <a:prstGeom prst="roundRect">
            <a:avLst/>
          </a:prstGeom>
          <a:ln>
            <a:solidFill>
              <a:srgbClr val="16A3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F0D8A2-5D09-3E24-7D84-4D1D9A4E85FB}"/>
              </a:ext>
            </a:extLst>
          </p:cNvPr>
          <p:cNvSpPr/>
          <p:nvPr/>
        </p:nvSpPr>
        <p:spPr>
          <a:xfrm>
            <a:off x="4604192" y="2692910"/>
            <a:ext cx="1218518" cy="1767494"/>
          </a:xfrm>
          <a:prstGeom prst="roundRect">
            <a:avLst/>
          </a:prstGeom>
          <a:ln>
            <a:solidFill>
              <a:srgbClr val="16A3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F3CAAC-D01B-43A3-160E-4272F766E615}"/>
              </a:ext>
            </a:extLst>
          </p:cNvPr>
          <p:cNvSpPr/>
          <p:nvPr/>
        </p:nvSpPr>
        <p:spPr>
          <a:xfrm>
            <a:off x="8016802" y="2692910"/>
            <a:ext cx="1218518" cy="1767494"/>
          </a:xfrm>
          <a:prstGeom prst="roundRect">
            <a:avLst/>
          </a:prstGeom>
          <a:ln>
            <a:solidFill>
              <a:srgbClr val="16A3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3547D6-5B66-723E-97B8-5462B10B69EC}"/>
              </a:ext>
            </a:extLst>
          </p:cNvPr>
          <p:cNvSpPr/>
          <p:nvPr/>
        </p:nvSpPr>
        <p:spPr>
          <a:xfrm>
            <a:off x="6310497" y="2692910"/>
            <a:ext cx="1218518" cy="1767494"/>
          </a:xfrm>
          <a:prstGeom prst="roundRect">
            <a:avLst/>
          </a:prstGeom>
          <a:ln>
            <a:solidFill>
              <a:srgbClr val="16A3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E31549-81FF-781A-D071-11F91C19AD39}"/>
              </a:ext>
            </a:extLst>
          </p:cNvPr>
          <p:cNvCxnSpPr>
            <a:cxnSpLocks/>
          </p:cNvCxnSpPr>
          <p:nvPr/>
        </p:nvCxnSpPr>
        <p:spPr>
          <a:xfrm>
            <a:off x="5850133" y="3574236"/>
            <a:ext cx="43048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4BE6255-4975-8E38-413C-74C644509C70}"/>
              </a:ext>
            </a:extLst>
          </p:cNvPr>
          <p:cNvCxnSpPr>
            <a:cxnSpLocks/>
          </p:cNvCxnSpPr>
          <p:nvPr/>
        </p:nvCxnSpPr>
        <p:spPr>
          <a:xfrm>
            <a:off x="4151972" y="3574236"/>
            <a:ext cx="43048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A57208-40ED-2093-31E4-17A2BCEFFF33}"/>
              </a:ext>
            </a:extLst>
          </p:cNvPr>
          <p:cNvCxnSpPr>
            <a:cxnSpLocks/>
          </p:cNvCxnSpPr>
          <p:nvPr/>
        </p:nvCxnSpPr>
        <p:spPr>
          <a:xfrm>
            <a:off x="7561401" y="3574236"/>
            <a:ext cx="43048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81DA9C-B762-94DA-728F-68093218CBED}"/>
              </a:ext>
            </a:extLst>
          </p:cNvPr>
          <p:cNvCxnSpPr>
            <a:cxnSpLocks/>
          </p:cNvCxnSpPr>
          <p:nvPr/>
        </p:nvCxnSpPr>
        <p:spPr>
          <a:xfrm>
            <a:off x="9315404" y="3575677"/>
            <a:ext cx="43048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A77293F-94D0-08B8-AB9A-385E100A29B7}"/>
              </a:ext>
            </a:extLst>
          </p:cNvPr>
          <p:cNvCxnSpPr>
            <a:cxnSpLocks/>
          </p:cNvCxnSpPr>
          <p:nvPr/>
        </p:nvCxnSpPr>
        <p:spPr>
          <a:xfrm>
            <a:off x="2436811" y="3574236"/>
            <a:ext cx="43048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06D467D-DC5F-6567-776E-3DA0B47FD697}"/>
              </a:ext>
            </a:extLst>
          </p:cNvPr>
          <p:cNvSpPr txBox="1"/>
          <p:nvPr/>
        </p:nvSpPr>
        <p:spPr>
          <a:xfrm>
            <a:off x="2999129" y="3224231"/>
            <a:ext cx="10160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Analysis</a:t>
            </a:r>
          </a:p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393A54-F858-AD41-E626-31051093E8D9}"/>
              </a:ext>
            </a:extLst>
          </p:cNvPr>
          <p:cNvSpPr txBox="1"/>
          <p:nvPr/>
        </p:nvSpPr>
        <p:spPr>
          <a:xfrm>
            <a:off x="4649551" y="3125081"/>
            <a:ext cx="11270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Vector DB</a:t>
            </a:r>
            <a:endParaRPr lang="ar-AE" sz="1400" b="1" dirty="0"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ctr" rtl="1"/>
            <a:br>
              <a:rPr lang="ar-SY" sz="600" b="1" dirty="0">
                <a:latin typeface="Open Sans" panose="020B0606030504020204" pitchFamily="34" charset="0"/>
                <a:ea typeface="Open Sans" panose="020B0606030504020204" pitchFamily="34" charset="0"/>
              </a:rPr>
            </a:b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(Profiles</a:t>
            </a:r>
          </a:p>
          <a:p>
            <a:pPr algn="ctr" rtl="1"/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Knowledge</a:t>
            </a:r>
          </a:p>
          <a:p>
            <a:pPr algn="ctr" rtl="1"/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Base)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3902D6-A126-9E11-2C72-61F0B1DA4BFD}"/>
              </a:ext>
            </a:extLst>
          </p:cNvPr>
          <p:cNvSpPr txBox="1"/>
          <p:nvPr/>
        </p:nvSpPr>
        <p:spPr>
          <a:xfrm>
            <a:off x="6356253" y="3224230"/>
            <a:ext cx="11270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</a:t>
            </a:r>
          </a:p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Matching</a:t>
            </a:r>
          </a:p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316DA7-4A87-8ED7-ADD3-A40666A2E1CB}"/>
              </a:ext>
            </a:extLst>
          </p:cNvPr>
          <p:cNvSpPr txBox="1"/>
          <p:nvPr/>
        </p:nvSpPr>
        <p:spPr>
          <a:xfrm>
            <a:off x="7973673" y="3331952"/>
            <a:ext cx="130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Coordinator</a:t>
            </a:r>
          </a:p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Agent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AC0AFF8-734B-D790-A09A-84A40942C296}"/>
              </a:ext>
            </a:extLst>
          </p:cNvPr>
          <p:cNvSpPr/>
          <p:nvPr/>
        </p:nvSpPr>
        <p:spPr>
          <a:xfrm>
            <a:off x="1521499" y="3275585"/>
            <a:ext cx="822491" cy="647910"/>
          </a:xfrm>
          <a:prstGeom prst="roundRect">
            <a:avLst/>
          </a:prstGeom>
          <a:ln>
            <a:solidFill>
              <a:srgbClr val="16A3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432192-B76B-65CC-1CF9-FCA5E1C435B1}"/>
              </a:ext>
            </a:extLst>
          </p:cNvPr>
          <p:cNvSpPr txBox="1"/>
          <p:nvPr/>
        </p:nvSpPr>
        <p:spPr>
          <a:xfrm>
            <a:off x="1568414" y="3439675"/>
            <a:ext cx="723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Input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8B5F47B-373F-A6B0-A08A-A682C0BDBBBF}"/>
              </a:ext>
            </a:extLst>
          </p:cNvPr>
          <p:cNvSpPr/>
          <p:nvPr/>
        </p:nvSpPr>
        <p:spPr>
          <a:xfrm>
            <a:off x="9825971" y="3269609"/>
            <a:ext cx="822491" cy="647910"/>
          </a:xfrm>
          <a:prstGeom prst="roundRect">
            <a:avLst/>
          </a:prstGeom>
          <a:ln>
            <a:solidFill>
              <a:srgbClr val="16A3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BC3C03-DFD7-BC18-2F46-1378093E2447}"/>
              </a:ext>
            </a:extLst>
          </p:cNvPr>
          <p:cNvSpPr txBox="1"/>
          <p:nvPr/>
        </p:nvSpPr>
        <p:spPr>
          <a:xfrm>
            <a:off x="9809386" y="3448247"/>
            <a:ext cx="855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Output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935C41-B568-3308-CABB-44EAF140401F}"/>
              </a:ext>
            </a:extLst>
          </p:cNvPr>
          <p:cNvSpPr txBox="1"/>
          <p:nvPr/>
        </p:nvSpPr>
        <p:spPr>
          <a:xfrm>
            <a:off x="4133534" y="1258841"/>
            <a:ext cx="39249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Semi-Agentic Architecture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E0E1F-DBD7-A986-15BB-13A64D4EE8AB}"/>
              </a:ext>
            </a:extLst>
          </p:cNvPr>
          <p:cNvSpPr txBox="1"/>
          <p:nvPr/>
        </p:nvSpPr>
        <p:spPr>
          <a:xfrm>
            <a:off x="4649551" y="4584798"/>
            <a:ext cx="1127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RAG</a:t>
            </a:r>
            <a:endParaRPr lang="en-US" sz="12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55837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C310-979D-3C14-383D-8893E6844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9F98BF80-4F85-FAC4-8735-221A10211F63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7FF905-314B-5DC1-8273-6330CD4A1B2D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+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Fast API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HTML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0CB2DE-E978-5CA8-5EAC-A9AA859B851F}"/>
              </a:ext>
            </a:extLst>
          </p:cNvPr>
          <p:cNvSpPr txBox="1"/>
          <p:nvPr/>
        </p:nvSpPr>
        <p:spPr>
          <a:xfrm>
            <a:off x="1560829" y="2346868"/>
            <a:ext cx="9070339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Open Sans"/>
                <a:ea typeface="Open Sans"/>
                <a:cs typeface="Open Sans"/>
                <a:sym typeface="Open Sans"/>
              </a:rPr>
              <a:t>Python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Relies on AI / LLMs / RAG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Rapid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Seamless Integration with AI Tools (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LangChain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, Hugging Face, and vector databases)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Fast API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High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Ideal for I/O-bound AI workloads and external model calls.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Strong Data Validation (Type-safe request and response validation using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Pydantic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Developer-Friendly (Minimal boilerplate with clear and readable code)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HTML+CSS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Lightweight &amp; Fast &amp; Easy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Cross-Browser Compatibility</a:t>
            </a:r>
          </a:p>
        </p:txBody>
      </p:sp>
    </p:spTree>
    <p:extLst>
      <p:ext uri="{BB962C8B-B14F-4D97-AF65-F5344CB8AC3E}">
        <p14:creationId xmlns:p14="http://schemas.microsoft.com/office/powerpoint/2010/main" val="1024553437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A95C0-9150-4066-DFCB-9DC622E66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D96864F5-3A61-9193-C36B-F9750C424CE9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353BED-E151-E1AD-DBC5-E7807412559E}"/>
              </a:ext>
            </a:extLst>
          </p:cNvPr>
          <p:cNvSpPr txBox="1"/>
          <p:nvPr/>
        </p:nvSpPr>
        <p:spPr>
          <a:xfrm>
            <a:off x="2745694" y="1186252"/>
            <a:ext cx="701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AE" sz="2400" b="1" dirty="0">
                <a:latin typeface="Open Sans" panose="020B0606030504020204" pitchFamily="34" charset="0"/>
                <a:ea typeface="Open Sans" panose="020B0606030504020204" pitchFamily="34" charset="0"/>
              </a:rPr>
              <a:t>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LLM Orchestration Framework</a:t>
            </a:r>
            <a:r>
              <a:rPr lang="ar-AE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r>
              <a:rPr lang="ar-AE" sz="2400" b="1" dirty="0">
                <a:latin typeface="Open Sans" panose="020B0606030504020204" pitchFamily="34" charset="0"/>
                <a:ea typeface="Open Sans" panose="020B0606030504020204" pitchFamily="34" charset="0"/>
              </a:rPr>
              <a:t>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</a:rPr>
              <a:t> </a:t>
            </a:r>
            <a:r>
              <a:rPr lang="en-US" sz="2400" b="1" dirty="0" err="1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LangChain</a:t>
            </a:r>
            <a:r>
              <a:rPr lang="ar-AE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 </a:t>
            </a:r>
            <a:endParaRPr lang="en-US" sz="2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F69BFB-09E1-1D0E-64B1-C2153CB017C1}"/>
              </a:ext>
            </a:extLst>
          </p:cNvPr>
          <p:cNvSpPr txBox="1"/>
          <p:nvPr/>
        </p:nvSpPr>
        <p:spPr>
          <a:xfrm>
            <a:off x="1560829" y="2346868"/>
            <a:ext cx="907033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Flexible LLM Orchestration Framework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Seamless RAG Integration (like Chroma)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Multi-LLM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Prompt Management &amp; Experimentation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Agent &amp; Tool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Asynchronous &amp; Scalable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Open-Source &amp; Extensible</a:t>
            </a:r>
          </a:p>
        </p:txBody>
      </p:sp>
    </p:spTree>
    <p:extLst>
      <p:ext uri="{BB962C8B-B14F-4D97-AF65-F5344CB8AC3E}">
        <p14:creationId xmlns:p14="http://schemas.microsoft.com/office/powerpoint/2010/main" val="91552755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2A511-C679-976B-F267-8BA950CDB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5294F5D5-442C-61E9-0D52-157D54554F66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Simple Local LLM Runtime</a:t>
            </a:r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5FFFE-ACD7-C35A-D75F-2F14629CDB87}"/>
              </a:ext>
            </a:extLst>
          </p:cNvPr>
          <p:cNvSpPr txBox="1"/>
          <p:nvPr/>
        </p:nvSpPr>
        <p:spPr>
          <a:xfrm>
            <a:off x="3205388" y="1176092"/>
            <a:ext cx="5999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AE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Local LLM Inference Engine</a:t>
            </a:r>
            <a:r>
              <a:rPr lang="ar-AE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)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Ollama</a:t>
            </a:r>
            <a:r>
              <a:rPr lang="ar-AE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ar-AE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sz="2400" b="1" dirty="0">
              <a:solidFill>
                <a:srgbClr val="15A8A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FD3750-2B74-94D1-30B4-E3145896AA9C}"/>
              </a:ext>
            </a:extLst>
          </p:cNvPr>
          <p:cNvSpPr txBox="1"/>
          <p:nvPr/>
        </p:nvSpPr>
        <p:spPr>
          <a:xfrm>
            <a:off x="1560829" y="2346868"/>
            <a:ext cx="90703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Open-Source &amp; Free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Fast Development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Cross-Platform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Seamless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LangChain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Integration &amp; RAG pipelines.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Can be used as a drop-in replacement for OpenAI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Simple Local LLM Runtime (Run LLM locally with a single command)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Zero-Configuration Setup (No Docker, cloud accounts, or complex infrastructure required)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Local-First &amp; Privacy-Friendly (All data and inference stay on the local machine)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Built-in Model Management (Easy download, versioning, and switching between models)</a:t>
            </a:r>
          </a:p>
        </p:txBody>
      </p:sp>
    </p:spTree>
    <p:extLst>
      <p:ext uri="{BB962C8B-B14F-4D97-AF65-F5344CB8AC3E}">
        <p14:creationId xmlns:p14="http://schemas.microsoft.com/office/powerpoint/2010/main" val="3979471337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61C66-BB9A-19EC-6A1A-074ACD97C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018CE287-CB21-5DEA-2984-B696371AB2CC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A65E38-67E1-EF93-5891-469EE9248F98}"/>
              </a:ext>
            </a:extLst>
          </p:cNvPr>
          <p:cNvSpPr txBox="1"/>
          <p:nvPr/>
        </p:nvSpPr>
        <p:spPr>
          <a:xfrm>
            <a:off x="2586966" y="1198670"/>
            <a:ext cx="701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</a:rPr>
              <a:t>Profile Knowledge Base</a:t>
            </a:r>
            <a:endParaRPr lang="en-US" sz="2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494BFB-3A53-30BF-82F3-4221B2315BFA}"/>
              </a:ext>
            </a:extLst>
          </p:cNvPr>
          <p:cNvSpPr txBox="1"/>
          <p:nvPr/>
        </p:nvSpPr>
        <p:spPr>
          <a:xfrm>
            <a:off x="3179417" y="2346868"/>
            <a:ext cx="234901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Open Sans"/>
                <a:ea typeface="Open Sans"/>
                <a:cs typeface="Open Sans"/>
              </a:rPr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Role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Seniority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Years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Time zone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Languages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Frameworks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Project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Summary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84527FA8-CD6B-FBFF-E778-8DB7A0175779}"/>
              </a:ext>
            </a:extLst>
          </p:cNvPr>
          <p:cNvCxnSpPr>
            <a:cxnSpLocks/>
            <a:stCxn id="34" idx="3"/>
            <a:endCxn id="19" idx="1"/>
          </p:cNvCxnSpPr>
          <p:nvPr/>
        </p:nvCxnSpPr>
        <p:spPr>
          <a:xfrm>
            <a:off x="5360267" y="2996946"/>
            <a:ext cx="1767648" cy="922775"/>
          </a:xfrm>
          <a:prstGeom prst="bentConnector3">
            <a:avLst/>
          </a:prstGeom>
          <a:ln w="28575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5E64089-1745-7EFD-EF26-34176449C2BA}"/>
              </a:ext>
            </a:extLst>
          </p:cNvPr>
          <p:cNvCxnSpPr>
            <a:cxnSpLocks/>
            <a:stCxn id="32" idx="3"/>
            <a:endCxn id="19" idx="1"/>
          </p:cNvCxnSpPr>
          <p:nvPr/>
        </p:nvCxnSpPr>
        <p:spPr>
          <a:xfrm>
            <a:off x="5360269" y="3246770"/>
            <a:ext cx="1767646" cy="672951"/>
          </a:xfrm>
          <a:prstGeom prst="bentConnector3">
            <a:avLst/>
          </a:prstGeom>
          <a:ln w="28575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47C7E463-6EB6-644C-9B7D-931A6A02F8FB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5360263" y="3919721"/>
            <a:ext cx="1767652" cy="1097807"/>
          </a:xfrm>
          <a:prstGeom prst="bentConnector3">
            <a:avLst/>
          </a:prstGeom>
          <a:ln w="28575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4582700-65F8-602A-F006-D1314B3898CE}"/>
              </a:ext>
            </a:extLst>
          </p:cNvPr>
          <p:cNvSpPr txBox="1"/>
          <p:nvPr/>
        </p:nvSpPr>
        <p:spPr>
          <a:xfrm>
            <a:off x="7127915" y="3735055"/>
            <a:ext cx="1490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Embedding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81EDDF-5D13-61CC-4DA6-DB2CF83A2E41}"/>
              </a:ext>
            </a:extLst>
          </p:cNvPr>
          <p:cNvSpPr txBox="1"/>
          <p:nvPr/>
        </p:nvSpPr>
        <p:spPr>
          <a:xfrm>
            <a:off x="3679447" y="1860850"/>
            <a:ext cx="1490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C49500"/>
                </a:solidFill>
                <a:latin typeface="Open Sans"/>
                <a:ea typeface="Open Sans"/>
                <a:cs typeface="Open Sans"/>
              </a:rPr>
              <a:t>Meta Data</a:t>
            </a:r>
            <a:endParaRPr lang="en-US" dirty="0">
              <a:solidFill>
                <a:srgbClr val="C49500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3C84169-3C65-6EA7-6249-972D1C66DF3B}"/>
              </a:ext>
            </a:extLst>
          </p:cNvPr>
          <p:cNvSpPr/>
          <p:nvPr/>
        </p:nvSpPr>
        <p:spPr>
          <a:xfrm>
            <a:off x="3489428" y="3368785"/>
            <a:ext cx="1870843" cy="252000"/>
          </a:xfrm>
          <a:prstGeom prst="roundRect">
            <a:avLst/>
          </a:prstGeom>
          <a:noFill/>
          <a:ln>
            <a:solidFill>
              <a:srgbClr val="C49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70521BE-9917-DEE9-0346-9AB3B5E4B158}"/>
              </a:ext>
            </a:extLst>
          </p:cNvPr>
          <p:cNvSpPr/>
          <p:nvPr/>
        </p:nvSpPr>
        <p:spPr>
          <a:xfrm>
            <a:off x="3489427" y="3620418"/>
            <a:ext cx="1870843" cy="252000"/>
          </a:xfrm>
          <a:prstGeom prst="roundRect">
            <a:avLst/>
          </a:prstGeom>
          <a:noFill/>
          <a:ln>
            <a:solidFill>
              <a:srgbClr val="C49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B1A215E-860D-7E28-56CA-65EE25F9A2A8}"/>
              </a:ext>
            </a:extLst>
          </p:cNvPr>
          <p:cNvSpPr/>
          <p:nvPr/>
        </p:nvSpPr>
        <p:spPr>
          <a:xfrm>
            <a:off x="3489426" y="3120770"/>
            <a:ext cx="1870843" cy="252000"/>
          </a:xfrm>
          <a:prstGeom prst="roundRect">
            <a:avLst/>
          </a:prstGeom>
          <a:noFill/>
          <a:ln>
            <a:solidFill>
              <a:srgbClr val="C49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B17973F-9CDE-F5CD-9C1A-601C8452FA14}"/>
              </a:ext>
            </a:extLst>
          </p:cNvPr>
          <p:cNvSpPr/>
          <p:nvPr/>
        </p:nvSpPr>
        <p:spPr>
          <a:xfrm>
            <a:off x="3489425" y="2366313"/>
            <a:ext cx="1870843" cy="252000"/>
          </a:xfrm>
          <a:prstGeom prst="roundRect">
            <a:avLst/>
          </a:prstGeom>
          <a:noFill/>
          <a:ln>
            <a:solidFill>
              <a:srgbClr val="C49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CCABCC5-1B88-E267-541B-E62B760F1B4D}"/>
              </a:ext>
            </a:extLst>
          </p:cNvPr>
          <p:cNvSpPr/>
          <p:nvPr/>
        </p:nvSpPr>
        <p:spPr>
          <a:xfrm>
            <a:off x="3489424" y="2870946"/>
            <a:ext cx="1870843" cy="252000"/>
          </a:xfrm>
          <a:prstGeom prst="roundRect">
            <a:avLst/>
          </a:prstGeom>
          <a:noFill/>
          <a:ln>
            <a:solidFill>
              <a:srgbClr val="C49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97F5E60-4514-84F8-7BE4-1A77D66FE549}"/>
              </a:ext>
            </a:extLst>
          </p:cNvPr>
          <p:cNvSpPr/>
          <p:nvPr/>
        </p:nvSpPr>
        <p:spPr>
          <a:xfrm>
            <a:off x="3489424" y="3866624"/>
            <a:ext cx="1870843" cy="252000"/>
          </a:xfrm>
          <a:prstGeom prst="roundRect">
            <a:avLst/>
          </a:prstGeom>
          <a:noFill/>
          <a:ln>
            <a:solidFill>
              <a:srgbClr val="C49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D206354F-CC84-2D7F-0BED-9E7B3D8C247C}"/>
              </a:ext>
            </a:extLst>
          </p:cNvPr>
          <p:cNvCxnSpPr>
            <a:cxnSpLocks/>
            <a:stCxn id="29" idx="3"/>
            <a:endCxn id="19" idx="1"/>
          </p:cNvCxnSpPr>
          <p:nvPr/>
        </p:nvCxnSpPr>
        <p:spPr>
          <a:xfrm>
            <a:off x="5360271" y="3494785"/>
            <a:ext cx="1767644" cy="424936"/>
          </a:xfrm>
          <a:prstGeom prst="bentConnector3">
            <a:avLst/>
          </a:prstGeom>
          <a:ln w="28575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D0C50FDF-EDAC-8DC9-39BA-328FACF17B9B}"/>
              </a:ext>
            </a:extLst>
          </p:cNvPr>
          <p:cNvCxnSpPr>
            <a:cxnSpLocks/>
            <a:stCxn id="42" idx="3"/>
            <a:endCxn id="19" idx="1"/>
          </p:cNvCxnSpPr>
          <p:nvPr/>
        </p:nvCxnSpPr>
        <p:spPr>
          <a:xfrm flipV="1">
            <a:off x="5360267" y="3919721"/>
            <a:ext cx="1767648" cy="72903"/>
          </a:xfrm>
          <a:prstGeom prst="bentConnector3">
            <a:avLst/>
          </a:prstGeom>
          <a:ln w="28575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BAEFB1EE-14EE-7808-562F-978298755514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5360266" y="3919721"/>
            <a:ext cx="1767649" cy="310299"/>
          </a:xfrm>
          <a:prstGeom prst="bentConnector3">
            <a:avLst/>
          </a:prstGeom>
          <a:ln w="28575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33E5E929-8D0D-A7BA-E385-604B5E28765F}"/>
              </a:ext>
            </a:extLst>
          </p:cNvPr>
          <p:cNvCxnSpPr>
            <a:cxnSpLocks/>
            <a:stCxn id="31" idx="3"/>
            <a:endCxn id="19" idx="1"/>
          </p:cNvCxnSpPr>
          <p:nvPr/>
        </p:nvCxnSpPr>
        <p:spPr>
          <a:xfrm>
            <a:off x="5360270" y="3746418"/>
            <a:ext cx="1767645" cy="173303"/>
          </a:xfrm>
          <a:prstGeom prst="bentConnector3">
            <a:avLst/>
          </a:prstGeom>
          <a:ln w="28575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C3047D36-71F8-736E-4AEF-D17D2582B240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5360262" y="3919721"/>
            <a:ext cx="1767653" cy="829867"/>
          </a:xfrm>
          <a:prstGeom prst="bentConnector3">
            <a:avLst/>
          </a:prstGeom>
          <a:ln w="28575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EAF0C77B-0F69-4FA4-6CC1-2496C56EE3F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5360261" y="3919721"/>
            <a:ext cx="1767654" cy="574495"/>
          </a:xfrm>
          <a:prstGeom prst="bentConnector3">
            <a:avLst>
              <a:gd name="adj1" fmla="val 50000"/>
            </a:avLst>
          </a:prstGeom>
          <a:ln w="28575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78F3CE48-B16D-B167-D6BF-D2C5BC36EA8F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5360257" y="3919721"/>
            <a:ext cx="1767658" cy="1338601"/>
          </a:xfrm>
          <a:prstGeom prst="bentConnector3">
            <a:avLst/>
          </a:prstGeom>
          <a:ln w="28575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16F38891-7753-FC00-04A5-22768ED18DE9}"/>
              </a:ext>
            </a:extLst>
          </p:cNvPr>
          <p:cNvCxnSpPr>
            <a:cxnSpLocks/>
          </p:cNvCxnSpPr>
          <p:nvPr/>
        </p:nvCxnSpPr>
        <p:spPr>
          <a:xfrm flipV="1">
            <a:off x="5360257" y="3919721"/>
            <a:ext cx="1767656" cy="1545658"/>
          </a:xfrm>
          <a:prstGeom prst="bentConnector3">
            <a:avLst/>
          </a:prstGeom>
          <a:ln w="28575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F94769AE-E3E2-7BA3-A8AF-B7FAE75BBADE}"/>
              </a:ext>
            </a:extLst>
          </p:cNvPr>
          <p:cNvCxnSpPr>
            <a:cxnSpLocks/>
          </p:cNvCxnSpPr>
          <p:nvPr/>
        </p:nvCxnSpPr>
        <p:spPr>
          <a:xfrm flipV="1">
            <a:off x="5360257" y="3919721"/>
            <a:ext cx="1767656" cy="1739609"/>
          </a:xfrm>
          <a:prstGeom prst="bentConnector3">
            <a:avLst>
              <a:gd name="adj1" fmla="val 50000"/>
            </a:avLst>
          </a:prstGeom>
          <a:ln w="28575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394459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14FEB-693B-87E4-D3A0-331A59DA4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BEC71A36-E7F9-8FF5-4736-D9F54CFF1BEB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115150-1ADD-6993-FD7C-05820D1B79B9}"/>
              </a:ext>
            </a:extLst>
          </p:cNvPr>
          <p:cNvSpPr txBox="1"/>
          <p:nvPr/>
        </p:nvSpPr>
        <p:spPr>
          <a:xfrm>
            <a:off x="2586966" y="1198670"/>
            <a:ext cx="701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</a:rPr>
              <a:t>Query</a:t>
            </a:r>
            <a:endParaRPr lang="en-US" sz="2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F0C91-4CCC-3AF4-E554-0E9D0680FDE7}"/>
              </a:ext>
            </a:extLst>
          </p:cNvPr>
          <p:cNvSpPr txBox="1"/>
          <p:nvPr/>
        </p:nvSpPr>
        <p:spPr>
          <a:xfrm>
            <a:off x="3179417" y="2346868"/>
            <a:ext cx="234901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Role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Seniority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Years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Time zone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Languages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Frameworks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Project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Summary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A244AE3-EE54-DEA1-8832-8A5388FEC8EE}"/>
              </a:ext>
            </a:extLst>
          </p:cNvPr>
          <p:cNvCxnSpPr>
            <a:cxnSpLocks/>
            <a:stCxn id="34" idx="3"/>
            <a:endCxn id="19" idx="1"/>
          </p:cNvCxnSpPr>
          <p:nvPr/>
        </p:nvCxnSpPr>
        <p:spPr>
          <a:xfrm>
            <a:off x="5360267" y="2996946"/>
            <a:ext cx="1767651" cy="117501"/>
          </a:xfrm>
          <a:prstGeom prst="bentConnector3">
            <a:avLst/>
          </a:prstGeom>
          <a:ln w="28575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D91F015-F604-8120-FC3A-EB65D61ED8D5}"/>
              </a:ext>
            </a:extLst>
          </p:cNvPr>
          <p:cNvCxnSpPr>
            <a:cxnSpLocks/>
            <a:stCxn id="32" idx="3"/>
            <a:endCxn id="19" idx="1"/>
          </p:cNvCxnSpPr>
          <p:nvPr/>
        </p:nvCxnSpPr>
        <p:spPr>
          <a:xfrm flipV="1">
            <a:off x="5360269" y="3114447"/>
            <a:ext cx="1767649" cy="132323"/>
          </a:xfrm>
          <a:prstGeom prst="bentConnector3">
            <a:avLst/>
          </a:prstGeom>
          <a:ln w="28575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87DF4FE3-3A01-182E-ABDB-E726DB6D569C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5360270" y="3114447"/>
            <a:ext cx="1767648" cy="1352309"/>
          </a:xfrm>
          <a:prstGeom prst="bentConnector3">
            <a:avLst/>
          </a:prstGeom>
          <a:ln w="28575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B394F8E-DF93-61C2-4430-AFF6FEFB4842}"/>
              </a:ext>
            </a:extLst>
          </p:cNvPr>
          <p:cNvSpPr txBox="1"/>
          <p:nvPr/>
        </p:nvSpPr>
        <p:spPr>
          <a:xfrm>
            <a:off x="7127918" y="2929781"/>
            <a:ext cx="1490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15A8AF"/>
                </a:solidFill>
                <a:latin typeface="Open Sans"/>
                <a:ea typeface="Open Sans"/>
                <a:cs typeface="Open Sans"/>
              </a:rPr>
              <a:t>Embedding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0E142C-C491-D47E-4D6F-99E06F3E05BE}"/>
              </a:ext>
            </a:extLst>
          </p:cNvPr>
          <p:cNvSpPr txBox="1"/>
          <p:nvPr/>
        </p:nvSpPr>
        <p:spPr>
          <a:xfrm>
            <a:off x="3679447" y="1860850"/>
            <a:ext cx="1490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C49500"/>
                </a:solidFill>
                <a:latin typeface="Open Sans"/>
                <a:ea typeface="Open Sans"/>
                <a:cs typeface="Open Sans"/>
              </a:rPr>
              <a:t>Meta Data</a:t>
            </a:r>
            <a:endParaRPr lang="en-US" dirty="0">
              <a:solidFill>
                <a:srgbClr val="C49500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B61B8E6-91DC-9BD3-A284-68A1F88D0984}"/>
              </a:ext>
            </a:extLst>
          </p:cNvPr>
          <p:cNvSpPr/>
          <p:nvPr/>
        </p:nvSpPr>
        <p:spPr>
          <a:xfrm>
            <a:off x="3489428" y="3368785"/>
            <a:ext cx="1870843" cy="252000"/>
          </a:xfrm>
          <a:prstGeom prst="roundRect">
            <a:avLst/>
          </a:prstGeom>
          <a:noFill/>
          <a:ln>
            <a:solidFill>
              <a:srgbClr val="C49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524D65E-336D-C9B4-2795-D6D94823B13A}"/>
              </a:ext>
            </a:extLst>
          </p:cNvPr>
          <p:cNvSpPr/>
          <p:nvPr/>
        </p:nvSpPr>
        <p:spPr>
          <a:xfrm>
            <a:off x="3489427" y="3620418"/>
            <a:ext cx="1870843" cy="252000"/>
          </a:xfrm>
          <a:prstGeom prst="roundRect">
            <a:avLst/>
          </a:prstGeom>
          <a:noFill/>
          <a:ln>
            <a:solidFill>
              <a:srgbClr val="C49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A5CBFBA-794D-BE79-AE43-036E378D5BEA}"/>
              </a:ext>
            </a:extLst>
          </p:cNvPr>
          <p:cNvSpPr/>
          <p:nvPr/>
        </p:nvSpPr>
        <p:spPr>
          <a:xfrm>
            <a:off x="3489426" y="3120770"/>
            <a:ext cx="1870843" cy="252000"/>
          </a:xfrm>
          <a:prstGeom prst="roundRect">
            <a:avLst/>
          </a:prstGeom>
          <a:noFill/>
          <a:ln>
            <a:solidFill>
              <a:srgbClr val="C49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8A31661-4CE0-7EA5-3F5C-4D7933DFD1A0}"/>
              </a:ext>
            </a:extLst>
          </p:cNvPr>
          <p:cNvSpPr/>
          <p:nvPr/>
        </p:nvSpPr>
        <p:spPr>
          <a:xfrm>
            <a:off x="3489425" y="2366313"/>
            <a:ext cx="1870843" cy="25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0C370D5-915B-FF39-4E20-AB5E8E0138B4}"/>
              </a:ext>
            </a:extLst>
          </p:cNvPr>
          <p:cNvSpPr/>
          <p:nvPr/>
        </p:nvSpPr>
        <p:spPr>
          <a:xfrm>
            <a:off x="3489424" y="2870946"/>
            <a:ext cx="1870843" cy="252000"/>
          </a:xfrm>
          <a:prstGeom prst="roundRect">
            <a:avLst/>
          </a:prstGeom>
          <a:noFill/>
          <a:ln>
            <a:solidFill>
              <a:srgbClr val="C49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8DEF6E3-B61D-55B1-A7DD-793A618FC576}"/>
              </a:ext>
            </a:extLst>
          </p:cNvPr>
          <p:cNvSpPr/>
          <p:nvPr/>
        </p:nvSpPr>
        <p:spPr>
          <a:xfrm>
            <a:off x="3489423" y="2619130"/>
            <a:ext cx="1870843" cy="25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7512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B9FC9-9F41-6BFE-E7AC-B8EA37D8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33F46236-0DAB-0140-923D-A2C149041C77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EA5529-8AD6-F388-BEBE-FDBDC44AD931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Json</a:t>
            </a:r>
            <a:endParaRPr lang="en-US" sz="2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403105-E735-4D65-6B90-1DF6D5678275}"/>
              </a:ext>
            </a:extLst>
          </p:cNvPr>
          <p:cNvSpPr txBox="1"/>
          <p:nvPr/>
        </p:nvSpPr>
        <p:spPr>
          <a:xfrm>
            <a:off x="1564640" y="2346868"/>
            <a:ext cx="844041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Lightweight and easy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No database setup or maintenance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Human-readable and easy to debug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Flexible schema suitable for evolving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Ideal for small and static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Fast prototyping and rapid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Easily integrated with AI pipelines and LLM workflows</a:t>
            </a:r>
          </a:p>
        </p:txBody>
      </p:sp>
    </p:spTree>
    <p:extLst>
      <p:ext uri="{BB962C8B-B14F-4D97-AF65-F5344CB8AC3E}">
        <p14:creationId xmlns:p14="http://schemas.microsoft.com/office/powerpoint/2010/main" val="3468604948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84ED4-AC0C-B1FF-FE17-E0172068D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0F7B76EB-54A8-95DB-9B05-1A59BF6C5B19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CA648D-B0C5-F183-39C5-04F11F5176D7}"/>
              </a:ext>
            </a:extLst>
          </p:cNvPr>
          <p:cNvSpPr txBox="1"/>
          <p:nvPr/>
        </p:nvSpPr>
        <p:spPr>
          <a:xfrm>
            <a:off x="4114618" y="1165932"/>
            <a:ext cx="3962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Vector DB (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Chroma DB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7759B-24C9-81D1-A8AE-5BF4CD1590D4}"/>
              </a:ext>
            </a:extLst>
          </p:cNvPr>
          <p:cNvSpPr txBox="1"/>
          <p:nvPr/>
        </p:nvSpPr>
        <p:spPr>
          <a:xfrm>
            <a:off x="1564640" y="2346868"/>
            <a:ext cx="844041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Lightweight &amp; Easy to Use &amp; Simple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Local-First Design without requiring a separate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Excellent for Rapid Prototyping &amp; RAG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Native Integration with LLM Frameworks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Seamless support for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LangChain</a:t>
            </a:r>
            <a:endParaRPr lang="en-US" sz="1600" dirty="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Persistent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Metadata Filtering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Fast semantic search for small to medium-scale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Open-Source &amp; Free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Low Infrastructure Overhead (No need for Docker, Kubernetes, or cloud services)</a:t>
            </a:r>
          </a:p>
        </p:txBody>
      </p:sp>
    </p:spTree>
    <p:extLst>
      <p:ext uri="{BB962C8B-B14F-4D97-AF65-F5344CB8AC3E}">
        <p14:creationId xmlns:p14="http://schemas.microsoft.com/office/powerpoint/2010/main" val="3043214642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F4D8A-8BDD-7B1E-068E-FEBC71F62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D86B2537-B5EB-92DE-A9E2-1A70DF0DBC5A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58E182-2D2C-DF17-7DB4-09BCE3D5BCAB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Embedding Model (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Nomic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60C9FB-A7A8-6E1A-65BF-6AF43CA29767}"/>
              </a:ext>
            </a:extLst>
          </p:cNvPr>
          <p:cNvSpPr txBox="1"/>
          <p:nvPr/>
        </p:nvSpPr>
        <p:spPr>
          <a:xfrm>
            <a:off x="1560829" y="2346868"/>
            <a:ext cx="9070339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Advantages</a:t>
            </a: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Fast embedding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Lightweight &amp; local-friendly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Easy integration with Python &amp;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LangChain</a:t>
            </a:r>
            <a:endParaRPr lang="en-US" sz="1600" dirty="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Free &amp; open-source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Ideal for small-to-medium projects</a:t>
            </a:r>
            <a:endParaRPr lang="ar-AE" sz="1600" dirty="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Disadvantages </a:t>
            </a: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Lower accuracy than newer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Limited multilingual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Not suitable for very large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No built-in fine-tuning support</a:t>
            </a:r>
          </a:p>
        </p:txBody>
      </p:sp>
    </p:spTree>
    <p:extLst>
      <p:ext uri="{BB962C8B-B14F-4D97-AF65-F5344CB8AC3E}">
        <p14:creationId xmlns:p14="http://schemas.microsoft.com/office/powerpoint/2010/main" val="85466430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661A8-572F-8036-7EB0-A3767DF58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2B57BAFB-1511-C5CF-16C3-A8223D000940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74D84-14D9-20B3-0AC2-2EC9CB4CA1B2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Embedding Model (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C1F757-CC28-02CA-14AC-1D2D99A3DDA4}"/>
              </a:ext>
            </a:extLst>
          </p:cNvPr>
          <p:cNvSpPr txBox="1"/>
          <p:nvPr/>
        </p:nvSpPr>
        <p:spPr>
          <a:xfrm>
            <a:off x="1560829" y="2346868"/>
            <a:ext cx="9070339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Advantages</a:t>
            </a: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High accuracy 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Excellent for semantic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Handles large datasets efficiently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Multilingual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Compatible with modern LLM pipelines</a:t>
            </a:r>
            <a:endParaRPr lang="ar-AE" sz="1600" dirty="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Disadvantages </a:t>
            </a: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Requires more computational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Slower than lightweight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Larger model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Overkill for small-scale projects</a:t>
            </a:r>
          </a:p>
        </p:txBody>
      </p:sp>
    </p:spTree>
    <p:extLst>
      <p:ext uri="{BB962C8B-B14F-4D97-AF65-F5344CB8AC3E}">
        <p14:creationId xmlns:p14="http://schemas.microsoft.com/office/powerpoint/2010/main" val="1890678315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55CB5-1644-583C-E890-217D58613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627D3600-3FBD-FAE6-CA55-34A936969DE7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ED9947-F438-2199-5CFB-BC9E8AFD439F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Nomic       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vs       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63B83E-2051-15E8-D42C-0A74DC2EBF66}"/>
              </a:ext>
            </a:extLst>
          </p:cNvPr>
          <p:cNvSpPr txBox="1"/>
          <p:nvPr/>
        </p:nvSpPr>
        <p:spPr>
          <a:xfrm>
            <a:off x="1173638" y="2416208"/>
            <a:ext cx="578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Evaluation (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precision@k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)   -    simple 1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FDB949-7CE3-4E61-D2B3-1A8595FCE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253" y="3044331"/>
            <a:ext cx="4770533" cy="85351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0EC8FC-AF5D-DD52-FE5A-36F6A8E1CCEF}"/>
              </a:ext>
            </a:extLst>
          </p:cNvPr>
          <p:cNvCxnSpPr>
            <a:cxnSpLocks/>
          </p:cNvCxnSpPr>
          <p:nvPr/>
        </p:nvCxnSpPr>
        <p:spPr>
          <a:xfrm flipV="1">
            <a:off x="2011680" y="5293360"/>
            <a:ext cx="0" cy="426634"/>
          </a:xfrm>
          <a:prstGeom prst="straightConnector1">
            <a:avLst/>
          </a:prstGeom>
          <a:ln w="38100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00A2093-12A2-76FA-02A0-042008C9D875}"/>
              </a:ext>
            </a:extLst>
          </p:cNvPr>
          <p:cNvSpPr txBox="1"/>
          <p:nvPr/>
        </p:nvSpPr>
        <p:spPr>
          <a:xfrm>
            <a:off x="2092960" y="5350662"/>
            <a:ext cx="1295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Bge-m3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A82676F-3FFF-48BA-8959-94511990A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253" y="4134552"/>
            <a:ext cx="7635902" cy="9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09919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7F1C8-1275-8729-33FE-24ECB5DC1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BE9B3CA8-47A4-71A2-B91C-F49E3379F81B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30988F-3E5A-153C-F686-1ED5CC1BF628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Nomic       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vs       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52E740-10DA-C242-D702-A88975094F21}"/>
              </a:ext>
            </a:extLst>
          </p:cNvPr>
          <p:cNvSpPr txBox="1"/>
          <p:nvPr/>
        </p:nvSpPr>
        <p:spPr>
          <a:xfrm>
            <a:off x="1173638" y="2416208"/>
            <a:ext cx="578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Evaluation (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precision@k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)   -    simple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BC25CB-83C9-5218-EE68-C1C58114F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253" y="3065268"/>
            <a:ext cx="5044877" cy="81541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FF96F46-1A85-1C98-BE45-05D48F866FA7}"/>
              </a:ext>
            </a:extLst>
          </p:cNvPr>
          <p:cNvCxnSpPr>
            <a:cxnSpLocks/>
          </p:cNvCxnSpPr>
          <p:nvPr/>
        </p:nvCxnSpPr>
        <p:spPr>
          <a:xfrm flipV="1">
            <a:off x="2011680" y="5293360"/>
            <a:ext cx="0" cy="426634"/>
          </a:xfrm>
          <a:prstGeom prst="straightConnector1">
            <a:avLst/>
          </a:prstGeom>
          <a:ln w="38100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167E25-A0A8-BBC7-FD22-098BA36257C4}"/>
              </a:ext>
            </a:extLst>
          </p:cNvPr>
          <p:cNvSpPr txBox="1"/>
          <p:nvPr/>
        </p:nvSpPr>
        <p:spPr>
          <a:xfrm>
            <a:off x="2092960" y="5350662"/>
            <a:ext cx="1295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Bge-m3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8052B9-C40C-8F1A-3C0B-25837FB74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253" y="4072461"/>
            <a:ext cx="8077900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91040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7B33C-F99C-540C-C171-D9937E776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9525913F-BA90-3BF9-E1FB-04804C9487E8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6D1B2-93D2-671C-5DAC-334E675BD40F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Nomic       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vs       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ACD807-7F2F-5974-171E-422CBF31D912}"/>
              </a:ext>
            </a:extLst>
          </p:cNvPr>
          <p:cNvSpPr txBox="1"/>
          <p:nvPr/>
        </p:nvSpPr>
        <p:spPr>
          <a:xfrm>
            <a:off x="1173638" y="2416208"/>
            <a:ext cx="578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Evaluation (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precision@k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)   -    simple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D24B6-EE5D-9373-23D4-B440633F5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253" y="3008559"/>
            <a:ext cx="5273497" cy="83827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11D14E-5571-28EA-9C11-3D3D0544DEA8}"/>
              </a:ext>
            </a:extLst>
          </p:cNvPr>
          <p:cNvCxnSpPr>
            <a:cxnSpLocks/>
          </p:cNvCxnSpPr>
          <p:nvPr/>
        </p:nvCxnSpPr>
        <p:spPr>
          <a:xfrm flipV="1">
            <a:off x="2011680" y="5293360"/>
            <a:ext cx="0" cy="426634"/>
          </a:xfrm>
          <a:prstGeom prst="straightConnector1">
            <a:avLst/>
          </a:prstGeom>
          <a:ln w="38100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EBDED3-E90D-9869-B04D-1080C779FF05}"/>
              </a:ext>
            </a:extLst>
          </p:cNvPr>
          <p:cNvSpPr txBox="1"/>
          <p:nvPr/>
        </p:nvSpPr>
        <p:spPr>
          <a:xfrm>
            <a:off x="2092960" y="5350662"/>
            <a:ext cx="1295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Bge-m3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A22197-5C78-4BDB-9A39-F47DDA54A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253" y="4069851"/>
            <a:ext cx="7773074" cy="89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039828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A3617-7FE9-1B23-1624-A3B9656DC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2A4CDA4A-45E4-9F7A-7700-DD0C9771EEE9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C8B7F-F784-2042-F809-BC8474C63D84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Nomic       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vs       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410F47-BBAC-511F-C7DD-FB6FEDCF8C27}"/>
              </a:ext>
            </a:extLst>
          </p:cNvPr>
          <p:cNvSpPr txBox="1"/>
          <p:nvPr/>
        </p:nvSpPr>
        <p:spPr>
          <a:xfrm>
            <a:off x="1173638" y="2416208"/>
            <a:ext cx="578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Evaluation (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precision@k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)   -    simple 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516C33-9450-55C1-8265-E44F60D2D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253" y="3016180"/>
            <a:ext cx="3711262" cy="82303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F09C5EE-72C5-4ED6-BD4E-D50CF3A71085}"/>
              </a:ext>
            </a:extLst>
          </p:cNvPr>
          <p:cNvCxnSpPr>
            <a:cxnSpLocks/>
          </p:cNvCxnSpPr>
          <p:nvPr/>
        </p:nvCxnSpPr>
        <p:spPr>
          <a:xfrm flipV="1">
            <a:off x="2011680" y="5293360"/>
            <a:ext cx="0" cy="426634"/>
          </a:xfrm>
          <a:prstGeom prst="straightConnector1">
            <a:avLst/>
          </a:prstGeom>
          <a:ln w="38100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223E258-BD8D-8E35-9EB9-7B03F7A0E73B}"/>
              </a:ext>
            </a:extLst>
          </p:cNvPr>
          <p:cNvSpPr txBox="1"/>
          <p:nvPr/>
        </p:nvSpPr>
        <p:spPr>
          <a:xfrm>
            <a:off x="2092960" y="5350662"/>
            <a:ext cx="1295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Bge-m3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F2DCD7-FAD6-33C5-D186-1E1821564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253" y="4082373"/>
            <a:ext cx="7521592" cy="96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775345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83155-AA08-05BC-F635-BFB7807E8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37EB02D2-8CB7-BF29-55DF-103D84AC60CA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8AE42-3D0A-1368-A327-D4D63EDA7B53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Nomic       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vs       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43F8FE-23B0-8FC9-E5AA-5CF1BE437814}"/>
              </a:ext>
            </a:extLst>
          </p:cNvPr>
          <p:cNvSpPr txBox="1"/>
          <p:nvPr/>
        </p:nvSpPr>
        <p:spPr>
          <a:xfrm>
            <a:off x="1173638" y="2416208"/>
            <a:ext cx="578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Evaluation (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precision@k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)   -    simple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8EA840-FEF7-FF63-CC7F-B57FD73DC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880" y="3009863"/>
            <a:ext cx="5082980" cy="83827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6ABAF2-D696-635A-EBE0-AD925402FAEF}"/>
              </a:ext>
            </a:extLst>
          </p:cNvPr>
          <p:cNvCxnSpPr>
            <a:cxnSpLocks/>
          </p:cNvCxnSpPr>
          <p:nvPr/>
        </p:nvCxnSpPr>
        <p:spPr>
          <a:xfrm flipV="1">
            <a:off x="2011680" y="5293360"/>
            <a:ext cx="0" cy="426634"/>
          </a:xfrm>
          <a:prstGeom prst="straightConnector1">
            <a:avLst/>
          </a:prstGeom>
          <a:ln w="38100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40195C1-8D78-636C-13A2-693B1E73E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880" y="4072459"/>
            <a:ext cx="7491109" cy="9297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4D21FB-9E49-18F5-105A-381C2A166CDD}"/>
              </a:ext>
            </a:extLst>
          </p:cNvPr>
          <p:cNvSpPr txBox="1"/>
          <p:nvPr/>
        </p:nvSpPr>
        <p:spPr>
          <a:xfrm>
            <a:off x="2092959" y="5350662"/>
            <a:ext cx="2458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Nomic + Bge-m3</a:t>
            </a:r>
          </a:p>
        </p:txBody>
      </p:sp>
    </p:spTree>
    <p:extLst>
      <p:ext uri="{BB962C8B-B14F-4D97-AF65-F5344CB8AC3E}">
        <p14:creationId xmlns:p14="http://schemas.microsoft.com/office/powerpoint/2010/main" val="1880162398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9078F-E324-5BC4-FDB2-086802545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235EBF02-F016-18F2-A689-5DAEF69F773F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A03A2-7D3D-9BA7-8493-E74BBE5397D3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Nomic       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vs       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280108-F62E-DD31-037A-103A41F27513}"/>
              </a:ext>
            </a:extLst>
          </p:cNvPr>
          <p:cNvSpPr txBox="1"/>
          <p:nvPr/>
        </p:nvSpPr>
        <p:spPr>
          <a:xfrm>
            <a:off x="1173638" y="2416208"/>
            <a:ext cx="578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Evaluation (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precision@k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)   -    simple 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3D903D-4E75-712E-6104-3EC21CDD3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880" y="3017484"/>
            <a:ext cx="4595258" cy="82303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AEC0B2-7526-7D13-BC4C-4A0CD18B401A}"/>
              </a:ext>
            </a:extLst>
          </p:cNvPr>
          <p:cNvCxnSpPr>
            <a:cxnSpLocks/>
          </p:cNvCxnSpPr>
          <p:nvPr/>
        </p:nvCxnSpPr>
        <p:spPr>
          <a:xfrm flipV="1">
            <a:off x="2011680" y="5293360"/>
            <a:ext cx="0" cy="426634"/>
          </a:xfrm>
          <a:prstGeom prst="straightConnector1">
            <a:avLst/>
          </a:prstGeom>
          <a:ln w="38100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E64B90B-94DC-BF8E-09F5-15880B84A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880" y="4046989"/>
            <a:ext cx="7811177" cy="9297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A65CAF-023B-D109-8344-C00273A2E5B3}"/>
              </a:ext>
            </a:extLst>
          </p:cNvPr>
          <p:cNvSpPr txBox="1"/>
          <p:nvPr/>
        </p:nvSpPr>
        <p:spPr>
          <a:xfrm>
            <a:off x="2092959" y="5350662"/>
            <a:ext cx="2458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Nomic + Bge-m3</a:t>
            </a:r>
          </a:p>
        </p:txBody>
      </p:sp>
    </p:spTree>
    <p:extLst>
      <p:ext uri="{BB962C8B-B14F-4D97-AF65-F5344CB8AC3E}">
        <p14:creationId xmlns:p14="http://schemas.microsoft.com/office/powerpoint/2010/main" val="2409870079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57E62-C711-4703-B07C-3A8764D3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AC426783-6A35-2F2D-FD0D-88B3C28118B4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2D740C-E4D1-B42F-284E-AE617C1C177E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Nomic       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vs       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C19C51-8D3E-8CC2-316A-6A5705A11971}"/>
              </a:ext>
            </a:extLst>
          </p:cNvPr>
          <p:cNvSpPr txBox="1"/>
          <p:nvPr/>
        </p:nvSpPr>
        <p:spPr>
          <a:xfrm>
            <a:off x="1173638" y="2416208"/>
            <a:ext cx="578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Evaluation (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precision@k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)   -    simple 7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E79E63-66FB-37E8-4BC3-79DE3B4D2DAD}"/>
              </a:ext>
            </a:extLst>
          </p:cNvPr>
          <p:cNvCxnSpPr>
            <a:cxnSpLocks/>
          </p:cNvCxnSpPr>
          <p:nvPr/>
        </p:nvCxnSpPr>
        <p:spPr>
          <a:xfrm flipV="1">
            <a:off x="2011680" y="5293360"/>
            <a:ext cx="0" cy="426634"/>
          </a:xfrm>
          <a:prstGeom prst="straightConnector1">
            <a:avLst/>
          </a:prstGeom>
          <a:ln w="38100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7036E93-177F-77D3-1C4F-E9AC017C73AA}"/>
              </a:ext>
            </a:extLst>
          </p:cNvPr>
          <p:cNvSpPr txBox="1"/>
          <p:nvPr/>
        </p:nvSpPr>
        <p:spPr>
          <a:xfrm>
            <a:off x="2092960" y="5350662"/>
            <a:ext cx="1295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Bge-m3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A6961B-C109-D345-33EC-111ABE67B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880" y="3021294"/>
            <a:ext cx="4267570" cy="8154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88BA64-79BF-94A8-7F30-5883D523E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880" y="4072459"/>
            <a:ext cx="6233700" cy="89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45620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A4B0-3A97-D558-1856-B81905705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4D8BB9AB-B6A0-2F5F-47BD-4222FBB954D5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47334-B500-39E0-CCBC-44A8F2CAA794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Nomic       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vs       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997D2F-5DA4-5C9E-2D74-845E369F7F46}"/>
              </a:ext>
            </a:extLst>
          </p:cNvPr>
          <p:cNvSpPr txBox="1"/>
          <p:nvPr/>
        </p:nvSpPr>
        <p:spPr>
          <a:xfrm>
            <a:off x="1173638" y="2416208"/>
            <a:ext cx="578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Evaluation (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precision@k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)   -    simple 8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CB530E-8D03-021A-BC67-75A78F697324}"/>
              </a:ext>
            </a:extLst>
          </p:cNvPr>
          <p:cNvCxnSpPr>
            <a:cxnSpLocks/>
          </p:cNvCxnSpPr>
          <p:nvPr/>
        </p:nvCxnSpPr>
        <p:spPr>
          <a:xfrm flipV="1">
            <a:off x="2011680" y="5293360"/>
            <a:ext cx="0" cy="426634"/>
          </a:xfrm>
          <a:prstGeom prst="straightConnector1">
            <a:avLst/>
          </a:prstGeom>
          <a:ln w="38100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4FE4ED5-01EF-B234-3695-C496FCFB16E9}"/>
              </a:ext>
            </a:extLst>
          </p:cNvPr>
          <p:cNvSpPr txBox="1"/>
          <p:nvPr/>
        </p:nvSpPr>
        <p:spPr>
          <a:xfrm>
            <a:off x="2092959" y="5350662"/>
            <a:ext cx="2458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Nomic + Bge-m3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D37A01-EE9D-9E34-5E8E-4086B7D63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880" y="3003512"/>
            <a:ext cx="4168501" cy="8611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1B345D-47EB-D83F-9C91-9830622E1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880" y="4072461"/>
            <a:ext cx="6416596" cy="9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06214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72433-7A9F-94C7-FA0F-5C5DB640B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17341235-3C62-FF3B-8DEA-3026E4D91153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21E49-F998-3DF8-6488-246F9F71906A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Nomic       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vs       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7BC2B2-6DA0-8F6C-2D5F-FDE427A8BDB1}"/>
              </a:ext>
            </a:extLst>
          </p:cNvPr>
          <p:cNvSpPr txBox="1"/>
          <p:nvPr/>
        </p:nvSpPr>
        <p:spPr>
          <a:xfrm>
            <a:off x="1173638" y="2416208"/>
            <a:ext cx="578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Evaluation (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precision@k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)   -    simple 9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089C69-AD60-B965-3556-3022875B5771}"/>
              </a:ext>
            </a:extLst>
          </p:cNvPr>
          <p:cNvCxnSpPr>
            <a:cxnSpLocks/>
          </p:cNvCxnSpPr>
          <p:nvPr/>
        </p:nvCxnSpPr>
        <p:spPr>
          <a:xfrm flipV="1">
            <a:off x="2011680" y="5293360"/>
            <a:ext cx="0" cy="426634"/>
          </a:xfrm>
          <a:prstGeom prst="straightConnector1">
            <a:avLst/>
          </a:prstGeom>
          <a:ln w="38100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0F25558-169F-FFA8-ACCE-DC161A9059AD}"/>
              </a:ext>
            </a:extLst>
          </p:cNvPr>
          <p:cNvSpPr txBox="1"/>
          <p:nvPr/>
        </p:nvSpPr>
        <p:spPr>
          <a:xfrm>
            <a:off x="2092960" y="5350662"/>
            <a:ext cx="1295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Bge-m3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0BF792-B0FB-5371-A37C-AE4257C55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880" y="3009863"/>
            <a:ext cx="4625741" cy="8382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31215C-500B-105A-86FD-5CF91C920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880" y="4072459"/>
            <a:ext cx="7475868" cy="9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41157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5B0DE-02FE-5A7A-115E-22ADDB6B3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C37AEEF2-1391-F2E2-AFCD-0749E8EFDD57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02F63-AB1B-BF10-7259-2A7A1A05608A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Nomic       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vs       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76C63B-CE30-1A59-AD50-6A2BA15777F5}"/>
              </a:ext>
            </a:extLst>
          </p:cNvPr>
          <p:cNvSpPr txBox="1"/>
          <p:nvPr/>
        </p:nvSpPr>
        <p:spPr>
          <a:xfrm>
            <a:off x="1173638" y="2416208"/>
            <a:ext cx="578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Evaluation (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precision@k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)   -    simple 10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F5083B-AE61-93F7-727B-232F163117A3}"/>
              </a:ext>
            </a:extLst>
          </p:cNvPr>
          <p:cNvCxnSpPr>
            <a:cxnSpLocks/>
          </p:cNvCxnSpPr>
          <p:nvPr/>
        </p:nvCxnSpPr>
        <p:spPr>
          <a:xfrm flipV="1">
            <a:off x="2011680" y="5293360"/>
            <a:ext cx="0" cy="426634"/>
          </a:xfrm>
          <a:prstGeom prst="straightConnector1">
            <a:avLst/>
          </a:prstGeom>
          <a:ln w="38100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0464DFC-7A45-2E70-586D-0402DE39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880" y="3009863"/>
            <a:ext cx="5044877" cy="8382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7D9E184-8CC0-1E2B-FD8F-E6B28DACDEED}"/>
              </a:ext>
            </a:extLst>
          </p:cNvPr>
          <p:cNvSpPr txBox="1"/>
          <p:nvPr/>
        </p:nvSpPr>
        <p:spPr>
          <a:xfrm>
            <a:off x="2092959" y="5350662"/>
            <a:ext cx="2458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Nomic + Bge-m3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FFCD06E-F646-9018-84E4-2B2D0EEEA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880" y="4072459"/>
            <a:ext cx="7399661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10391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7FA11-1C30-C1CE-8C1E-71FEB1C55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D587065B-7553-4316-C221-18CAB08F1470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D310C5-F7A3-D498-676B-3A3DE1560C44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Nomic       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vs       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432534-4958-BA66-8550-94128F9F7F3B}"/>
              </a:ext>
            </a:extLst>
          </p:cNvPr>
          <p:cNvSpPr txBox="1"/>
          <p:nvPr/>
        </p:nvSpPr>
        <p:spPr>
          <a:xfrm>
            <a:off x="1910080" y="2521633"/>
            <a:ext cx="578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Evaluation ( </a:t>
            </a:r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precision@k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)   -    10 simples :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940E50-C675-C9A6-A63D-E476C0046971}"/>
              </a:ext>
            </a:extLst>
          </p:cNvPr>
          <p:cNvCxnSpPr>
            <a:cxnSpLocks/>
          </p:cNvCxnSpPr>
          <p:nvPr/>
        </p:nvCxnSpPr>
        <p:spPr>
          <a:xfrm flipV="1">
            <a:off x="2052320" y="4104640"/>
            <a:ext cx="0" cy="426634"/>
          </a:xfrm>
          <a:prstGeom prst="straightConnector1">
            <a:avLst/>
          </a:prstGeom>
          <a:ln w="38100">
            <a:solidFill>
              <a:srgbClr val="15A8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9CE3977-7676-238E-EAF0-8DEB127AF05F}"/>
              </a:ext>
            </a:extLst>
          </p:cNvPr>
          <p:cNvSpPr txBox="1"/>
          <p:nvPr/>
        </p:nvSpPr>
        <p:spPr>
          <a:xfrm>
            <a:off x="2133599" y="4161942"/>
            <a:ext cx="2458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Bge-m3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63DF9-8B17-BB4F-205B-0A46C7C7EB84}"/>
              </a:ext>
            </a:extLst>
          </p:cNvPr>
          <p:cNvSpPr txBox="1"/>
          <p:nvPr/>
        </p:nvSpPr>
        <p:spPr>
          <a:xfrm>
            <a:off x="1910079" y="3126302"/>
            <a:ext cx="6309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precision@k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(10 simples) – nomic : 0.24</a:t>
            </a:r>
          </a:p>
          <a:p>
            <a:r>
              <a:rPr lang="en-US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precision@k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(10 simples) – bge-m3 : 0.55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3220F4-24C1-867A-747C-92CD0206C9CB}"/>
              </a:ext>
            </a:extLst>
          </p:cNvPr>
          <p:cNvSpPr txBox="1"/>
          <p:nvPr/>
        </p:nvSpPr>
        <p:spPr>
          <a:xfrm>
            <a:off x="1910080" y="4841175"/>
            <a:ext cx="578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BGE model is more accurate than Nomic model</a:t>
            </a:r>
          </a:p>
        </p:txBody>
      </p:sp>
    </p:spTree>
    <p:extLst>
      <p:ext uri="{BB962C8B-B14F-4D97-AF65-F5344CB8AC3E}">
        <p14:creationId xmlns:p14="http://schemas.microsoft.com/office/powerpoint/2010/main" val="1322056149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402B4-2263-F96C-F30A-09124E108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A1358310-6E27-6047-22B8-A11603E3869C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B05EFD-F63C-567E-3EFA-85ABB73F4256}"/>
              </a:ext>
            </a:extLst>
          </p:cNvPr>
          <p:cNvSpPr txBox="1"/>
          <p:nvPr/>
        </p:nvSpPr>
        <p:spPr>
          <a:xfrm>
            <a:off x="4114618" y="1165932"/>
            <a:ext cx="3962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LLM (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llama3-7B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5EB09D-E6F9-1C7D-9BD2-78AF5D3C3334}"/>
              </a:ext>
            </a:extLst>
          </p:cNvPr>
          <p:cNvSpPr txBox="1"/>
          <p:nvPr/>
        </p:nvSpPr>
        <p:spPr>
          <a:xfrm>
            <a:off x="1560829" y="2346868"/>
            <a:ext cx="9070339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Advantages</a:t>
            </a: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Open-source and locally usable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Lightweight relative to larger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LLaMA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Excellent general language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Compatible with RAG frameworks (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LangChain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ChromaDB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Disadvantages </a:t>
            </a: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Lower accuracy than larger models in complex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Requires moderate GPU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Limited multilingual performance without further training</a:t>
            </a:r>
          </a:p>
        </p:txBody>
      </p:sp>
    </p:spTree>
    <p:extLst>
      <p:ext uri="{BB962C8B-B14F-4D97-AF65-F5344CB8AC3E}">
        <p14:creationId xmlns:p14="http://schemas.microsoft.com/office/powerpoint/2010/main" val="3589236831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76385-6E5E-5CC3-F6FC-A3EA1616F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1C6B6051-902E-1BB5-3943-D77E810803D7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3A573A-3C28-6070-68B4-21C67D7FECD7}"/>
              </a:ext>
            </a:extLst>
          </p:cNvPr>
          <p:cNvSpPr txBox="1"/>
          <p:nvPr/>
        </p:nvSpPr>
        <p:spPr>
          <a:xfrm>
            <a:off x="4114618" y="1165932"/>
            <a:ext cx="3962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LLM (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Mistral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C4133D-CE7E-5D38-38E4-1FACF135BE32}"/>
              </a:ext>
            </a:extLst>
          </p:cNvPr>
          <p:cNvSpPr txBox="1"/>
          <p:nvPr/>
        </p:nvSpPr>
        <p:spPr>
          <a:xfrm>
            <a:off x="1560829" y="2346868"/>
            <a:ext cx="9070339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Advantages</a:t>
            </a: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Excellent semantic understanding &amp; text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Faster than comparable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LLaMA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Lightweight and local-friendly with quantization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Open-source and integrates well with RAG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Good multitask performance across general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Disadvantages </a:t>
            </a:r>
            <a:r>
              <a:rPr lang="en-US" sz="1600" b="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Less fine-tuning support than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LLaMA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ecosystem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Requires modern GPU for smooth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Responses can be less controlled in certain prompts</a:t>
            </a:r>
          </a:p>
        </p:txBody>
      </p:sp>
    </p:spTree>
    <p:extLst>
      <p:ext uri="{BB962C8B-B14F-4D97-AF65-F5344CB8AC3E}">
        <p14:creationId xmlns:p14="http://schemas.microsoft.com/office/powerpoint/2010/main" val="2857375535"/>
      </p:ext>
    </p:extLst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D058AA-5AFD-9EEF-8ED3-94AB65D80F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21" r="101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791667-6355-9471-3861-0D73402C792A}"/>
              </a:ext>
            </a:extLst>
          </p:cNvPr>
          <p:cNvSpPr txBox="1"/>
          <p:nvPr/>
        </p:nvSpPr>
        <p:spPr>
          <a:xfrm>
            <a:off x="4317971" y="478318"/>
            <a:ext cx="3556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Llama3 LLM : 5 Min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Embedding Model : BGE</a:t>
            </a:r>
          </a:p>
        </p:txBody>
      </p:sp>
    </p:spTree>
    <p:extLst>
      <p:ext uri="{BB962C8B-B14F-4D97-AF65-F5344CB8AC3E}">
        <p14:creationId xmlns:p14="http://schemas.microsoft.com/office/powerpoint/2010/main" val="772543674"/>
      </p:ext>
    </p:extLst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AF26C63-0D95-9E29-5C21-AF96471A88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28" r="6911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153598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C31695D-0568-CAE6-7310-AFF0EBEB36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92" r="12217"/>
          <a:stretch>
            <a:fillRect/>
          </a:stretch>
        </p:blipFill>
        <p:spPr>
          <a:xfrm>
            <a:off x="0" y="-6128"/>
            <a:ext cx="12192000" cy="686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51683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FBAB5-3CE3-E882-E763-A92E5C8D7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11E939-2990-E996-2BC7-EAE02A35B5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21" r="101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249AD8-55E8-75BD-8648-73B713F6C6F7}"/>
              </a:ext>
            </a:extLst>
          </p:cNvPr>
          <p:cNvSpPr txBox="1"/>
          <p:nvPr/>
        </p:nvSpPr>
        <p:spPr>
          <a:xfrm>
            <a:off x="4317971" y="478318"/>
            <a:ext cx="3556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Mistral LLM : 8 Min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Embedding Model : BGE</a:t>
            </a:r>
          </a:p>
        </p:txBody>
      </p:sp>
    </p:spTree>
    <p:extLst>
      <p:ext uri="{BB962C8B-B14F-4D97-AF65-F5344CB8AC3E}">
        <p14:creationId xmlns:p14="http://schemas.microsoft.com/office/powerpoint/2010/main" val="4187055021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C81F4D-CFCF-D76B-0055-9250D5BAD2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84" r="111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04377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B9FAB4-FA4F-8BEB-A843-082D95CE59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54" t="4180" r="12934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4565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CFA6FA-B30E-B99A-C225-310AA36346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03" r="13354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92273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B1D04-4060-B366-60D7-C9930B1C4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FFD443-2F7F-245E-3E71-95A23D6F7D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21" r="101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3743A7-B0CE-EA4B-3F00-9E7121C3CF7F}"/>
              </a:ext>
            </a:extLst>
          </p:cNvPr>
          <p:cNvSpPr txBox="1"/>
          <p:nvPr/>
        </p:nvSpPr>
        <p:spPr>
          <a:xfrm>
            <a:off x="4317971" y="478318"/>
            <a:ext cx="3556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Llama3 LLM : 6 Min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Embedding Model : Nomic</a:t>
            </a:r>
          </a:p>
        </p:txBody>
      </p:sp>
    </p:spTree>
    <p:extLst>
      <p:ext uri="{BB962C8B-B14F-4D97-AF65-F5344CB8AC3E}">
        <p14:creationId xmlns:p14="http://schemas.microsoft.com/office/powerpoint/2010/main" val="1682151145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E46423-29C5-C95E-9233-B0D22385AE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20" t="454" r="879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295267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5AB9B9-D46C-2C69-F41F-B7A73FC78B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20" r="12846" b="2069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9112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28AA4-03BB-7B7D-7A36-4B9BB317D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4E0AFC-C98B-1460-E3DE-E67DE05989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21" r="101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64961D-D1FC-6681-42C2-095DF1B7DE9B}"/>
              </a:ext>
            </a:extLst>
          </p:cNvPr>
          <p:cNvSpPr txBox="1"/>
          <p:nvPr/>
        </p:nvSpPr>
        <p:spPr>
          <a:xfrm>
            <a:off x="4317971" y="478318"/>
            <a:ext cx="3556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Mistral LLM : 9 Min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Embedding Model : Nomic</a:t>
            </a:r>
          </a:p>
        </p:txBody>
      </p:sp>
    </p:spTree>
    <p:extLst>
      <p:ext uri="{BB962C8B-B14F-4D97-AF65-F5344CB8AC3E}">
        <p14:creationId xmlns:p14="http://schemas.microsoft.com/office/powerpoint/2010/main" val="855738558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826053-9778-2647-0BA1-FA13D52EC2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39" r="895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81615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A00448-F00F-6017-AD31-CFDBAB9331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03" t="172" r="9237" b="8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57581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37C9E-80C1-C08C-8ACA-35BDB129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765F790F-270C-4572-EABC-DDB26E59926B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9FB3F2-39AA-4065-5624-98313A5500B3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Llama3        </a:t>
            </a:r>
            <a:r>
              <a:rPr lang="en-US" sz="2400" b="1" dirty="0">
                <a:solidFill>
                  <a:srgbClr val="15A8A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vs       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Mistral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3B317-B171-5F78-2AC4-D2F892668F78}"/>
              </a:ext>
            </a:extLst>
          </p:cNvPr>
          <p:cNvSpPr txBox="1"/>
          <p:nvPr/>
        </p:nvSpPr>
        <p:spPr>
          <a:xfrm>
            <a:off x="1910080" y="2521633"/>
            <a:ext cx="578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Evaluation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98DE8-E8B8-4497-E56E-333144D8BB25}"/>
              </a:ext>
            </a:extLst>
          </p:cNvPr>
          <p:cNvSpPr txBox="1"/>
          <p:nvPr/>
        </p:nvSpPr>
        <p:spPr>
          <a:xfrm>
            <a:off x="1910080" y="3244334"/>
            <a:ext cx="7076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Mistral is Better than Llama3 in Project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style of writing the explanation in the final step is clearly different between Llama3 &amp; Mistral</a:t>
            </a:r>
          </a:p>
        </p:txBody>
      </p:sp>
    </p:spTree>
    <p:extLst>
      <p:ext uri="{BB962C8B-B14F-4D97-AF65-F5344CB8AC3E}">
        <p14:creationId xmlns:p14="http://schemas.microsoft.com/office/powerpoint/2010/main" val="1338557466"/>
      </p:ext>
    </p:extLst>
  </p:cSld>
  <p:clrMapOvr>
    <a:masterClrMapping/>
  </p:clrMapOvr>
  <p:transition spd="slow">
    <p:cover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277B-6666-8CAD-58A9-BFA971727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9E1E61CA-B1AE-D734-69A8-01D4E13E3880}"/>
              </a:ext>
            </a:extLst>
          </p:cNvPr>
          <p:cNvSpPr/>
          <p:nvPr/>
        </p:nvSpPr>
        <p:spPr>
          <a:xfrm>
            <a:off x="1173638" y="689898"/>
            <a:ext cx="9844723" cy="5478204"/>
          </a:xfrm>
          <a:custGeom>
            <a:avLst/>
            <a:gdLst>
              <a:gd name="csX0" fmla="*/ 0 w 8771888"/>
              <a:gd name="csY0" fmla="*/ 685171 h 4110946"/>
              <a:gd name="csX1" fmla="*/ 685171 w 8771888"/>
              <a:gd name="csY1" fmla="*/ 0 h 4110946"/>
              <a:gd name="csX2" fmla="*/ 8086717 w 8771888"/>
              <a:gd name="csY2" fmla="*/ 0 h 4110946"/>
              <a:gd name="csX3" fmla="*/ 8771888 w 8771888"/>
              <a:gd name="csY3" fmla="*/ 685171 h 4110946"/>
              <a:gd name="csX4" fmla="*/ 8771888 w 8771888"/>
              <a:gd name="csY4" fmla="*/ 3425775 h 4110946"/>
              <a:gd name="csX5" fmla="*/ 8086717 w 8771888"/>
              <a:gd name="csY5" fmla="*/ 4110946 h 4110946"/>
              <a:gd name="csX6" fmla="*/ 685171 w 8771888"/>
              <a:gd name="csY6" fmla="*/ 4110946 h 4110946"/>
              <a:gd name="csX7" fmla="*/ 0 w 8771888"/>
              <a:gd name="csY7" fmla="*/ 3425775 h 4110946"/>
              <a:gd name="csX8" fmla="*/ 0 w 8771888"/>
              <a:gd name="csY8" fmla="*/ 685171 h 4110946"/>
              <a:gd name="csX0" fmla="*/ 1423 w 8773311"/>
              <a:gd name="csY0" fmla="*/ 685258 h 4111033"/>
              <a:gd name="csX1" fmla="*/ 686594 w 8773311"/>
              <a:gd name="csY1" fmla="*/ 87 h 4111033"/>
              <a:gd name="csX2" fmla="*/ 8088140 w 8773311"/>
              <a:gd name="csY2" fmla="*/ 87 h 4111033"/>
              <a:gd name="csX3" fmla="*/ 8773311 w 8773311"/>
              <a:gd name="csY3" fmla="*/ 685258 h 4111033"/>
              <a:gd name="csX4" fmla="*/ 8773311 w 8773311"/>
              <a:gd name="csY4" fmla="*/ 3425862 h 4111033"/>
              <a:gd name="csX5" fmla="*/ 8088140 w 8773311"/>
              <a:gd name="csY5" fmla="*/ 4111033 h 4111033"/>
              <a:gd name="csX6" fmla="*/ 686594 w 8773311"/>
              <a:gd name="csY6" fmla="*/ 4111033 h 4111033"/>
              <a:gd name="csX7" fmla="*/ 1423 w 8773311"/>
              <a:gd name="csY7" fmla="*/ 3425862 h 4111033"/>
              <a:gd name="csX8" fmla="*/ 1423 w 8773311"/>
              <a:gd name="csY8" fmla="*/ 685258 h 4111033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561"/>
              <a:gd name="csX1" fmla="*/ 685171 w 8771888"/>
              <a:gd name="csY1" fmla="*/ 615 h 4111561"/>
              <a:gd name="csX2" fmla="*/ 8086717 w 8771888"/>
              <a:gd name="csY2" fmla="*/ 615 h 4111561"/>
              <a:gd name="csX3" fmla="*/ 8771888 w 8771888"/>
              <a:gd name="csY3" fmla="*/ 685786 h 4111561"/>
              <a:gd name="csX4" fmla="*/ 8771888 w 8771888"/>
              <a:gd name="csY4" fmla="*/ 3426390 h 4111561"/>
              <a:gd name="csX5" fmla="*/ 8086717 w 8771888"/>
              <a:gd name="csY5" fmla="*/ 4111561 h 4111561"/>
              <a:gd name="csX6" fmla="*/ 685171 w 8771888"/>
              <a:gd name="csY6" fmla="*/ 4111561 h 4111561"/>
              <a:gd name="csX7" fmla="*/ 0 w 8771888"/>
              <a:gd name="csY7" fmla="*/ 3426390 h 4111561"/>
              <a:gd name="csX8" fmla="*/ 0 w 8771888"/>
              <a:gd name="csY8" fmla="*/ 685786 h 4111561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1888"/>
              <a:gd name="csY0" fmla="*/ 685786 h 4111990"/>
              <a:gd name="csX1" fmla="*/ 685171 w 8771888"/>
              <a:gd name="csY1" fmla="*/ 615 h 4111990"/>
              <a:gd name="csX2" fmla="*/ 8086717 w 8771888"/>
              <a:gd name="csY2" fmla="*/ 615 h 4111990"/>
              <a:gd name="csX3" fmla="*/ 8771888 w 8771888"/>
              <a:gd name="csY3" fmla="*/ 685786 h 4111990"/>
              <a:gd name="csX4" fmla="*/ 8771888 w 8771888"/>
              <a:gd name="csY4" fmla="*/ 3426390 h 4111990"/>
              <a:gd name="csX5" fmla="*/ 8086717 w 8771888"/>
              <a:gd name="csY5" fmla="*/ 4111561 h 4111990"/>
              <a:gd name="csX6" fmla="*/ 685171 w 8771888"/>
              <a:gd name="csY6" fmla="*/ 4111561 h 4111990"/>
              <a:gd name="csX7" fmla="*/ 0 w 8771888"/>
              <a:gd name="csY7" fmla="*/ 3426390 h 4111990"/>
              <a:gd name="csX8" fmla="*/ 0 w 8771888"/>
              <a:gd name="csY8" fmla="*/ 685786 h 4111990"/>
              <a:gd name="csX0" fmla="*/ 0 w 8772047"/>
              <a:gd name="csY0" fmla="*/ 685786 h 4111990"/>
              <a:gd name="csX1" fmla="*/ 685171 w 8772047"/>
              <a:gd name="csY1" fmla="*/ 615 h 4111990"/>
              <a:gd name="csX2" fmla="*/ 8086717 w 8772047"/>
              <a:gd name="csY2" fmla="*/ 615 h 4111990"/>
              <a:gd name="csX3" fmla="*/ 8771888 w 8772047"/>
              <a:gd name="csY3" fmla="*/ 685786 h 4111990"/>
              <a:gd name="csX4" fmla="*/ 8771888 w 8772047"/>
              <a:gd name="csY4" fmla="*/ 3426390 h 4111990"/>
              <a:gd name="csX5" fmla="*/ 8086717 w 8772047"/>
              <a:gd name="csY5" fmla="*/ 4111561 h 4111990"/>
              <a:gd name="csX6" fmla="*/ 685171 w 8772047"/>
              <a:gd name="csY6" fmla="*/ 4111561 h 4111990"/>
              <a:gd name="csX7" fmla="*/ 0 w 8772047"/>
              <a:gd name="csY7" fmla="*/ 3426390 h 4111990"/>
              <a:gd name="csX8" fmla="*/ 0 w 8772047"/>
              <a:gd name="csY8" fmla="*/ 685786 h 4111990"/>
              <a:gd name="csX0" fmla="*/ 0 w 8771906"/>
              <a:gd name="csY0" fmla="*/ 685786 h 4111990"/>
              <a:gd name="csX1" fmla="*/ 685171 w 8771906"/>
              <a:gd name="csY1" fmla="*/ 615 h 4111990"/>
              <a:gd name="csX2" fmla="*/ 8086717 w 8771906"/>
              <a:gd name="csY2" fmla="*/ 615 h 4111990"/>
              <a:gd name="csX3" fmla="*/ 8771888 w 8771906"/>
              <a:gd name="csY3" fmla="*/ 685786 h 4111990"/>
              <a:gd name="csX4" fmla="*/ 8771888 w 8771906"/>
              <a:gd name="csY4" fmla="*/ 3426390 h 4111990"/>
              <a:gd name="csX5" fmla="*/ 8086717 w 8771906"/>
              <a:gd name="csY5" fmla="*/ 4111561 h 4111990"/>
              <a:gd name="csX6" fmla="*/ 685171 w 8771906"/>
              <a:gd name="csY6" fmla="*/ 4111561 h 4111990"/>
              <a:gd name="csX7" fmla="*/ 0 w 8771906"/>
              <a:gd name="csY7" fmla="*/ 3426390 h 4111990"/>
              <a:gd name="csX8" fmla="*/ 0 w 8771906"/>
              <a:gd name="csY8" fmla="*/ 685786 h 4111990"/>
              <a:gd name="csX0" fmla="*/ 0 w 8772117"/>
              <a:gd name="csY0" fmla="*/ 685786 h 4111990"/>
              <a:gd name="csX1" fmla="*/ 685171 w 8772117"/>
              <a:gd name="csY1" fmla="*/ 615 h 4111990"/>
              <a:gd name="csX2" fmla="*/ 8086717 w 8772117"/>
              <a:gd name="csY2" fmla="*/ 615 h 4111990"/>
              <a:gd name="csX3" fmla="*/ 8771888 w 8772117"/>
              <a:gd name="csY3" fmla="*/ 685786 h 4111990"/>
              <a:gd name="csX4" fmla="*/ 8771888 w 8772117"/>
              <a:gd name="csY4" fmla="*/ 3426390 h 4111990"/>
              <a:gd name="csX5" fmla="*/ 8086717 w 8772117"/>
              <a:gd name="csY5" fmla="*/ 4111561 h 4111990"/>
              <a:gd name="csX6" fmla="*/ 685171 w 8772117"/>
              <a:gd name="csY6" fmla="*/ 4111561 h 4111990"/>
              <a:gd name="csX7" fmla="*/ 0 w 8772117"/>
              <a:gd name="csY7" fmla="*/ 3426390 h 4111990"/>
              <a:gd name="csX8" fmla="*/ 0 w 8772117"/>
              <a:gd name="csY8" fmla="*/ 685786 h 4111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72117" h="4111990">
                <a:moveTo>
                  <a:pt x="0" y="685786"/>
                </a:moveTo>
                <a:cubicBezTo>
                  <a:pt x="6096" y="20865"/>
                  <a:pt x="-65094" y="-5481"/>
                  <a:pt x="685171" y="615"/>
                </a:cubicBezTo>
                <a:lnTo>
                  <a:pt x="8086717" y="615"/>
                </a:lnTo>
                <a:cubicBezTo>
                  <a:pt x="8738062" y="615"/>
                  <a:pt x="8763625" y="42889"/>
                  <a:pt x="8771888" y="685786"/>
                </a:cubicBezTo>
                <a:lnTo>
                  <a:pt x="8771888" y="3426390"/>
                </a:lnTo>
                <a:cubicBezTo>
                  <a:pt x="8774650" y="4112122"/>
                  <a:pt x="8763465" y="4105092"/>
                  <a:pt x="8086717" y="4111561"/>
                </a:cubicBezTo>
                <a:lnTo>
                  <a:pt x="685171" y="4111561"/>
                </a:lnTo>
                <a:cubicBezTo>
                  <a:pt x="20250" y="4117657"/>
                  <a:pt x="12192" y="4066927"/>
                  <a:pt x="0" y="3426390"/>
                </a:cubicBezTo>
                <a:lnTo>
                  <a:pt x="0" y="685786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076A6-8A97-E342-1D85-01C8A1D96A08}"/>
              </a:ext>
            </a:extLst>
          </p:cNvPr>
          <p:cNvSpPr txBox="1"/>
          <p:nvPr/>
        </p:nvSpPr>
        <p:spPr>
          <a:xfrm>
            <a:off x="3205388" y="1176092"/>
            <a:ext cx="578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Future Directions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DBF75F-8DA1-F136-5FBF-93BEE8E1E9EC}"/>
              </a:ext>
            </a:extLst>
          </p:cNvPr>
          <p:cNvSpPr txBox="1"/>
          <p:nvPr/>
        </p:nvSpPr>
        <p:spPr>
          <a:xfrm>
            <a:off x="1940894" y="2542332"/>
            <a:ext cx="5781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 Matching using Rule Based</a:t>
            </a:r>
          </a:p>
        </p:txBody>
      </p:sp>
    </p:spTree>
    <p:extLst>
      <p:ext uri="{BB962C8B-B14F-4D97-AF65-F5344CB8AC3E}">
        <p14:creationId xmlns:p14="http://schemas.microsoft.com/office/powerpoint/2010/main" val="3343070151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2791</TotalTime>
  <Words>910</Words>
  <Application>Microsoft Office PowerPoint</Application>
  <PresentationFormat>Widescreen</PresentationFormat>
  <Paragraphs>233</Paragraphs>
  <Slides>40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Aptos</vt:lpstr>
      <vt:lpstr>Aptos Display</vt:lpstr>
      <vt:lpstr>Arial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Salam Alkhawwam</dc:creator>
  <cp:lastModifiedBy>Salam Alkhawwam</cp:lastModifiedBy>
  <cp:revision>28</cp:revision>
  <dcterms:created xsi:type="dcterms:W3CDTF">2026-02-07T13:37:53Z</dcterms:created>
  <dcterms:modified xsi:type="dcterms:W3CDTF">2026-02-09T12:09:27Z</dcterms:modified>
</cp:coreProperties>
</file>